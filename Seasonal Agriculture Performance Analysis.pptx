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6" r:id="rId60"/>
    <p:sldId id="315" r:id="rId6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IN"/>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207045367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67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A00D50D-CE99-41C2-B8F9-9A6161DA7F28}" type="datetimeFigureOut">
              <a:rPr lang="en-IN" smtClean="0"/>
              <a:t>10-09-2026</a:t>
            </a:fld>
            <a:endParaRPr lang="en-IN"/>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324892165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03949BCD-C77E-4D3E-9C4D-2EA2D8561741}" type="slidenum">
              <a:rPr lang="en-IN" smtClean="0"/>
              <a:t>‹#›</a:t>
            </a:fld>
            <a:endParaRPr lang="en-IN"/>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36404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1425294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IN"/>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6929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2A00D50D-CE99-41C2-B8F9-9A6161DA7F28}" type="datetimeFigureOut">
              <a:rPr lang="en-IN" smtClean="0"/>
              <a:t>10-09-2026</a:t>
            </a:fld>
            <a:endParaRPr lang="en-IN"/>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IN"/>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63255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3495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IN"/>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355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IN"/>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383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2A00D50D-CE99-41C2-B8F9-9A6161DA7F28}" type="datetimeFigureOut">
              <a:rPr lang="en-IN" smtClean="0"/>
              <a:t>10-09-2026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03949BCD-C77E-4D3E-9C4D-2EA2D8561741}" type="slidenum">
              <a:rPr lang="en-IN" smtClean="0"/>
              <a:t>‹#›</a:t>
            </a:fld>
            <a:endParaRPr lang="en-IN"/>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48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A00D50D-CE99-41C2-B8F9-9A6161DA7F28}" type="datetimeFigureOut">
              <a:rPr lang="en-IN" smtClean="0"/>
              <a:t>10-09-2026</a:t>
            </a:fld>
            <a:endParaRPr lang="en-IN"/>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IN"/>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7862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99467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2A00D50D-CE99-41C2-B8F9-9A6161DA7F28}" type="datetimeFigureOut">
              <a:rPr lang="en-IN" smtClean="0"/>
              <a:t>10-09-2026</a:t>
            </a:fld>
            <a:endParaRPr lang="en-IN"/>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IN"/>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905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IN"/>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03949BCD-C77E-4D3E-9C4D-2EA2D8561741}"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6530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2A00D50D-CE99-41C2-B8F9-9A6161DA7F28}" type="datetimeFigureOut">
              <a:rPr lang="en-IN" smtClean="0"/>
              <a:t>10-09-2026</a:t>
            </a:fld>
            <a:endParaRPr lang="en-IN"/>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IN"/>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03949BCD-C77E-4D3E-9C4D-2EA2D8561741}" type="slidenum">
              <a:rPr lang="en-IN" smtClean="0"/>
              <a:t>‹#›</a:t>
            </a:fld>
            <a:endParaRPr lang="en-IN"/>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3074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170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4194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IN"/>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9891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03949BCD-C77E-4D3E-9C4D-2EA2D8561741}" type="slidenum">
              <a:rPr lang="en-IN" smtClean="0"/>
              <a:t>‹#›</a:t>
            </a:fld>
            <a:endParaRPr lang="en-IN"/>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4860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03949BCD-C77E-4D3E-9C4D-2EA2D8561741}" type="slidenum">
              <a:rPr lang="en-IN" smtClean="0"/>
              <a:t>‹#›</a:t>
            </a:fld>
            <a:endParaRPr lang="en-IN"/>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8472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2A00D50D-CE99-41C2-B8F9-9A6161DA7F28}" type="datetimeFigureOut">
              <a:rPr lang="en-IN" smtClean="0"/>
              <a:t>10-09-2026</a:t>
            </a:fld>
            <a:endParaRPr lang="en-IN"/>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03949BCD-C77E-4D3E-9C4D-2EA2D8561741}" type="slidenum">
              <a:rPr lang="en-IN" smtClean="0"/>
              <a:t>‹#›</a:t>
            </a:fld>
            <a:endParaRPr lang="en-IN"/>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92441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2A00D50D-CE99-41C2-B8F9-9A6161DA7F28}" type="datetimeFigureOut">
              <a:rPr lang="en-IN" smtClean="0"/>
              <a:t>10-09-2026</a:t>
            </a:fld>
            <a:endParaRPr lang="en-IN"/>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IN"/>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03949BCD-C77E-4D3E-9C4D-2EA2D8561741}" type="slidenum">
              <a:rPr lang="en-IN" smtClean="0"/>
              <a:t>‹#›</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92216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IN"/>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03949BCD-C77E-4D3E-9C4D-2EA2D8561741}" type="slidenum">
              <a:rPr lang="en-IN" smtClean="0"/>
              <a:t>‹#›</a:t>
            </a:fld>
            <a:endParaRPr lang="en-IN"/>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420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2A00D50D-CE99-41C2-B8F9-9A6161DA7F28}" type="datetimeFigureOut">
              <a:rPr lang="en-IN" smtClean="0"/>
              <a:t>10-09-2026</a:t>
            </a:fld>
            <a:endParaRPr lang="en-IN"/>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IN"/>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03949BCD-C77E-4D3E-9C4D-2EA2D8561741}"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601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4124862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32174766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endParaRPr lang="en-IN"/>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A00D50D-CE99-41C2-B8F9-9A6161DA7F28}" type="datetimeFigureOut">
              <a:rPr lang="en-IN" smtClean="0"/>
              <a:t>10-09-2026</a:t>
            </a:fld>
            <a:endParaRPr lang="en-IN"/>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03949BCD-C77E-4D3E-9C4D-2EA2D8561741}" type="slidenum">
              <a:rPr lang="en-IN" smtClean="0"/>
              <a:t>‹#›</a:t>
            </a:fld>
            <a:endParaRPr lang="en-IN"/>
          </a:p>
        </p:txBody>
      </p:sp>
    </p:spTree>
    <p:extLst>
      <p:ext uri="{BB962C8B-B14F-4D97-AF65-F5344CB8AC3E}">
        <p14:creationId xmlns:p14="http://schemas.microsoft.com/office/powerpoint/2010/main" val="202915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2A00D50D-CE99-41C2-B8F9-9A6161DA7F28}" type="datetimeFigureOut">
              <a:rPr lang="en-IN" smtClean="0"/>
              <a:t>10-09-2026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03949BCD-C77E-4D3E-9C4D-2EA2D8561741}"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694376"/>
      </p:ext>
    </p:extLst>
  </p:cSld>
  <p:clrMap bg1="dk1" tx1="lt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978F3-50E4-A2CC-2966-37ECD7FABD67}"/>
              </a:ext>
            </a:extLst>
          </p:cNvPr>
          <p:cNvSpPr>
            <a:spLocks noGrp="1"/>
          </p:cNvSpPr>
          <p:nvPr>
            <p:ph type="title"/>
          </p:nvPr>
        </p:nvSpPr>
        <p:spPr>
          <a:xfrm>
            <a:off x="1602658" y="1494502"/>
            <a:ext cx="8338626" cy="953729"/>
          </a:xfrm>
        </p:spPr>
        <p:txBody>
          <a:bodyPr>
            <a:normAutofit/>
          </a:bodyPr>
          <a:lstStyle/>
          <a:p>
            <a:pPr algn="ctr"/>
            <a:r>
              <a:rPr lang="en-IN" sz="3000" dirty="0">
                <a:latin typeface="Times New Roman" panose="02020603050405020304" pitchFamily="18" charset="0"/>
                <a:cs typeface="Times New Roman" panose="02020603050405020304" pitchFamily="18" charset="0"/>
              </a:rPr>
              <a:t>Seasonal Agriculture Performance Analysis</a:t>
            </a:r>
          </a:p>
        </p:txBody>
      </p:sp>
      <p:sp>
        <p:nvSpPr>
          <p:cNvPr id="3" name="Subtitle 2">
            <a:extLst>
              <a:ext uri="{FF2B5EF4-FFF2-40B4-BE49-F238E27FC236}">
                <a16:creationId xmlns:a16="http://schemas.microsoft.com/office/drawing/2014/main" id="{ACBD42EB-4125-6391-5823-74501EB2942D}"/>
              </a:ext>
            </a:extLst>
          </p:cNvPr>
          <p:cNvSpPr>
            <a:spLocks noGrp="1"/>
          </p:cNvSpPr>
          <p:nvPr>
            <p:ph type="subTitle" idx="1"/>
          </p:nvPr>
        </p:nvSpPr>
        <p:spPr>
          <a:xfrm>
            <a:off x="1602658" y="3736258"/>
            <a:ext cx="8825658" cy="1735394"/>
          </a:xfrm>
        </p:spPr>
        <p:txBody>
          <a:bodyPr>
            <a:normAutofit/>
          </a:bodyPr>
          <a:lstStyle/>
          <a:p>
            <a:r>
              <a:rPr lang="en-IN" cap="none" dirty="0"/>
              <a:t>                                      </a:t>
            </a:r>
            <a:r>
              <a:rPr lang="en-IN" cap="none" dirty="0">
                <a:latin typeface="Times New Roman" panose="02020603050405020304" pitchFamily="18" charset="0"/>
                <a:cs typeface="Times New Roman" panose="02020603050405020304" pitchFamily="18" charset="0"/>
              </a:rPr>
              <a:t>Name :   Krishna Mohan B</a:t>
            </a:r>
          </a:p>
          <a:p>
            <a:r>
              <a:rPr lang="en-IN" cap="none" dirty="0">
                <a:latin typeface="Times New Roman" panose="02020603050405020304" pitchFamily="18" charset="0"/>
                <a:cs typeface="Times New Roman" panose="02020603050405020304" pitchFamily="18" charset="0"/>
              </a:rPr>
              <a:t>                                    Student ID: </a:t>
            </a:r>
            <a:r>
              <a:rPr lang="en-IN" dirty="0">
                <a:latin typeface="Times New Roman" panose="02020603050405020304" pitchFamily="18" charset="0"/>
                <a:cs typeface="Times New Roman" panose="02020603050405020304" pitchFamily="18" charset="0"/>
              </a:rPr>
              <a:t>STU67c74640ed4b11741112896</a:t>
            </a:r>
          </a:p>
          <a:p>
            <a:r>
              <a:rPr lang="en-IN"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College Name: Amity University Online (Passed Out)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03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64F0-5467-DFAB-87CB-C1C7BB6EB2FB}"/>
              </a:ext>
            </a:extLst>
          </p:cNvPr>
          <p:cNvSpPr>
            <a:spLocks noGrp="1"/>
          </p:cNvSpPr>
          <p:nvPr>
            <p:ph type="title"/>
          </p:nvPr>
        </p:nvSpPr>
        <p:spPr>
          <a:xfrm>
            <a:off x="711610" y="117988"/>
            <a:ext cx="10515600" cy="599767"/>
          </a:xfrm>
        </p:spPr>
        <p:txBody>
          <a:bodyPr>
            <a:normAutofit/>
          </a:bodyPr>
          <a:lstStyle/>
          <a:p>
            <a:r>
              <a:rPr lang="en-IN" sz="3000" dirty="0">
                <a:latin typeface="Times New Roman" panose="02020603050405020304" pitchFamily="18" charset="0"/>
                <a:cs typeface="Times New Roman" panose="02020603050405020304" pitchFamily="18" charset="0"/>
              </a:rPr>
              <a:t>Problem Statement of Seasonal Agriculture Performance Analysis</a:t>
            </a:r>
          </a:p>
        </p:txBody>
      </p:sp>
      <p:sp>
        <p:nvSpPr>
          <p:cNvPr id="3" name="Content Placeholder 2">
            <a:extLst>
              <a:ext uri="{FF2B5EF4-FFF2-40B4-BE49-F238E27FC236}">
                <a16:creationId xmlns:a16="http://schemas.microsoft.com/office/drawing/2014/main" id="{3AE0A9CC-0A62-63A7-ED31-BC429358BD8E}"/>
              </a:ext>
            </a:extLst>
          </p:cNvPr>
          <p:cNvSpPr>
            <a:spLocks noGrp="1"/>
          </p:cNvSpPr>
          <p:nvPr>
            <p:ph idx="1"/>
          </p:nvPr>
        </p:nvSpPr>
        <p:spPr>
          <a:xfrm>
            <a:off x="711609" y="934064"/>
            <a:ext cx="11195255" cy="5805948"/>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a:p>
            <a:pPr marL="0" indent="0">
              <a:buNone/>
            </a:pPr>
            <a:r>
              <a:rPr lang="en-US" sz="2000" b="1" dirty="0">
                <a:latin typeface="Times New Roman" panose="02020603050405020304" pitchFamily="18" charset="0"/>
                <a:cs typeface="Times New Roman" panose="02020603050405020304" pitchFamily="18" charset="0"/>
              </a:rPr>
              <a:t>Importance of the Problem Statement</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Seasonal variations can influence different aspects of agricultural activities and performance.</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Understanding seasonal patterns through data analytics can help stakeholders:</a:t>
            </a:r>
          </a:p>
          <a:p>
            <a:pPr>
              <a:lnSpc>
                <a:spcPct val="100000"/>
              </a:lnSpc>
              <a:spcBef>
                <a:spcPts val="0"/>
              </a:spcBef>
            </a:pPr>
            <a:r>
              <a:rPr lang="en-US" sz="2000" dirty="0">
                <a:latin typeface="Times New Roman" panose="02020603050405020304" pitchFamily="18" charset="0"/>
                <a:cs typeface="Times New Roman" panose="02020603050405020304" pitchFamily="18" charset="0"/>
              </a:rPr>
              <a:t>Understand variations in agricultural performance</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Identify important seasonal trends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Compare performance across different periods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Understand changing environmental conditions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Examine differences in resource usage</a:t>
            </a:r>
          </a:p>
          <a:p>
            <a:pPr>
              <a:lnSpc>
                <a:spcPct val="100000"/>
              </a:lnSpc>
              <a:spcBef>
                <a:spcPts val="0"/>
              </a:spcBef>
            </a:pPr>
            <a:r>
              <a:rPr lang="en-US" sz="2000" dirty="0">
                <a:latin typeface="Times New Roman" panose="02020603050405020304" pitchFamily="18" charset="0"/>
                <a:cs typeface="Times New Roman" panose="02020603050405020304" pitchFamily="18" charset="0"/>
              </a:rPr>
              <a:t>Identify areas requiring further investigation</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Support evidence-based agricultural planning</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009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FA1BE-7904-C922-33FD-1FDB471D0EBB}"/>
              </a:ext>
            </a:extLst>
          </p:cNvPr>
          <p:cNvSpPr>
            <a:spLocks noGrp="1"/>
          </p:cNvSpPr>
          <p:nvPr>
            <p:ph type="title"/>
          </p:nvPr>
        </p:nvSpPr>
        <p:spPr>
          <a:xfrm>
            <a:off x="739878" y="172439"/>
            <a:ext cx="10422194" cy="569523"/>
          </a:xfrm>
        </p:spPr>
        <p:txBody>
          <a:bodyPr>
            <a:normAutofit/>
          </a:bodyPr>
          <a:lstStyle/>
          <a:p>
            <a:r>
              <a:rPr lang="en-IN" sz="3000" dirty="0">
                <a:latin typeface="Times New Roman" panose="02020603050405020304" pitchFamily="18" charset="0"/>
                <a:cs typeface="Times New Roman" panose="02020603050405020304" pitchFamily="18" charset="0"/>
              </a:rPr>
              <a:t>Project Description of Seasonal Agriculture Performance Analysis </a:t>
            </a:r>
          </a:p>
        </p:txBody>
      </p:sp>
      <p:sp>
        <p:nvSpPr>
          <p:cNvPr id="3" name="Content Placeholder 2">
            <a:extLst>
              <a:ext uri="{FF2B5EF4-FFF2-40B4-BE49-F238E27FC236}">
                <a16:creationId xmlns:a16="http://schemas.microsoft.com/office/drawing/2014/main" id="{5F6793FF-BC66-9F09-18FB-A2C20610EA78}"/>
              </a:ext>
            </a:extLst>
          </p:cNvPr>
          <p:cNvSpPr>
            <a:spLocks noGrp="1"/>
          </p:cNvSpPr>
          <p:nvPr>
            <p:ph idx="1"/>
          </p:nvPr>
        </p:nvSpPr>
        <p:spPr>
          <a:xfrm>
            <a:off x="693175" y="830452"/>
            <a:ext cx="10859728" cy="5855109"/>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This project aims to characterize and examine seasonal agriculture performance across farms and will relate environment, soil health, farm inputs to farm outcome, for example, precipitation, temperature, soil nutrients, types of irrigation, the use of inputs and crop performance-both yield and income. Understanding relationships between environmental and production practices with farm outcome characteristics will provide insights on which production-resource use strategies will optimize crop yield, optimize use of resources, particularly water and fertilizer, achieve a better farm economy and mitigate disease/pest problems for variety of crops, seasons, and regions.</a:t>
            </a:r>
          </a:p>
          <a:p>
            <a:pPr marL="0" indent="0">
              <a:buNone/>
            </a:pPr>
            <a:r>
              <a:rPr lang="en-IN" sz="2000" b="1" dirty="0">
                <a:latin typeface="Times New Roman" panose="02020603050405020304" pitchFamily="18" charset="0"/>
                <a:cs typeface="Times New Roman" panose="02020603050405020304" pitchFamily="18" charset="0"/>
              </a:rPr>
              <a:t>Dataset Description </a:t>
            </a:r>
          </a:p>
          <a:p>
            <a:pPr marL="0" indent="0">
              <a:buNone/>
            </a:pPr>
            <a:r>
              <a:rPr lang="en-US" sz="2200" dirty="0">
                <a:latin typeface="Times New Roman" panose="02020603050405020304" pitchFamily="18" charset="0"/>
                <a:cs typeface="Times New Roman" panose="02020603050405020304" pitchFamily="18" charset="0"/>
              </a:rPr>
              <a:t>Dataset to hold farm level records containing various features related to environment, agriculture and finance of specific crop and season. Each row would represent the performance records of the one farm which can be defined as below:</a:t>
            </a:r>
          </a:p>
          <a:p>
            <a:pPr marL="0" indent="0">
              <a:buNone/>
            </a:pPr>
            <a:r>
              <a:rPr lang="en-US" sz="2200" dirty="0">
                <a:latin typeface="Times New Roman" panose="02020603050405020304" pitchFamily="18" charset="0"/>
                <a:cs typeface="Times New Roman" panose="02020603050405020304" pitchFamily="18" charset="0"/>
              </a:rPr>
              <a:t>Farm_ID- unique id to denote the farm</a:t>
            </a:r>
          </a:p>
          <a:p>
            <a:pPr marL="0" indent="0">
              <a:buNone/>
            </a:pPr>
            <a:r>
              <a:rPr lang="en-US" sz="2200" dirty="0">
                <a:latin typeface="Times New Roman" panose="02020603050405020304" pitchFamily="18" charset="0"/>
                <a:cs typeface="Times New Roman" panose="02020603050405020304" pitchFamily="18" charset="0"/>
              </a:rPr>
              <a:t>State, District- geographical location of the farm</a:t>
            </a:r>
          </a:p>
          <a:p>
            <a:pPr marL="0" indent="0">
              <a:buNone/>
            </a:pPr>
            <a:r>
              <a:rPr lang="en-US" sz="2200" dirty="0">
                <a:latin typeface="Times New Roman" panose="02020603050405020304" pitchFamily="18" charset="0"/>
                <a:cs typeface="Times New Roman" panose="02020603050405020304" pitchFamily="18" charset="0"/>
              </a:rPr>
              <a:t>Crop, Season - crops that has been grown and season of the year respectively</a:t>
            </a:r>
          </a:p>
          <a:p>
            <a:pPr marL="0" indent="0">
              <a:buNone/>
            </a:pPr>
            <a:r>
              <a:rPr lang="en-US" sz="2200" dirty="0">
                <a:latin typeface="Times New Roman" panose="02020603050405020304" pitchFamily="18" charset="0"/>
                <a:cs typeface="Times New Roman" panose="02020603050405020304" pitchFamily="18" charset="0"/>
              </a:rPr>
              <a:t>Farm Area Hectares - total cultivate area of the farm</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680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1B14B-F3E9-F73B-E012-2C6FC2A2A478}"/>
              </a:ext>
            </a:extLst>
          </p:cNvPr>
          <p:cNvSpPr>
            <a:spLocks noGrp="1"/>
          </p:cNvSpPr>
          <p:nvPr>
            <p:ph idx="1"/>
          </p:nvPr>
        </p:nvSpPr>
        <p:spPr>
          <a:xfrm>
            <a:off x="383459" y="341671"/>
            <a:ext cx="11179276" cy="6174657"/>
          </a:xfrm>
        </p:spPr>
        <p:txBody>
          <a:bodyPr>
            <a:normAutofit fontScale="77500" lnSpcReduction="20000"/>
          </a:bodyPr>
          <a:lstStyle/>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Climatic Conditions:</a:t>
            </a:r>
          </a:p>
          <a:p>
            <a:pPr marL="0" indent="0">
              <a:buNone/>
            </a:pPr>
            <a:r>
              <a:rPr lang="en-US" sz="2400" dirty="0">
                <a:latin typeface="Times New Roman" panose="02020603050405020304" pitchFamily="18" charset="0"/>
                <a:cs typeface="Times New Roman" panose="02020603050405020304" pitchFamily="18" charset="0"/>
              </a:rPr>
              <a:t>Rainfall_mm- total rainfall received by farm in season</a:t>
            </a:r>
          </a:p>
          <a:p>
            <a:pPr marL="0" indent="0">
              <a:buNone/>
            </a:pPr>
            <a:r>
              <a:rPr lang="en-US" sz="2400" dirty="0">
                <a:latin typeface="Times New Roman" panose="02020603050405020304" pitchFamily="18" charset="0"/>
                <a:cs typeface="Times New Roman" panose="02020603050405020304" pitchFamily="18" charset="0"/>
              </a:rPr>
              <a:t>AvgTemperatureC - average temp by which crop cycle has flourished</a:t>
            </a:r>
          </a:p>
          <a:p>
            <a:pPr marL="0" indent="0">
              <a:buNone/>
            </a:pPr>
            <a:r>
              <a:rPr lang="en-US" sz="2400" dirty="0">
                <a:latin typeface="Times New Roman" panose="02020603050405020304" pitchFamily="18" charset="0"/>
                <a:cs typeface="Times New Roman" panose="02020603050405020304" pitchFamily="18" charset="0"/>
              </a:rPr>
              <a:t>Humidity_pct- average percentage humidity during the crop cycle</a:t>
            </a:r>
          </a:p>
          <a:p>
            <a:pPr marL="0" indent="0">
              <a:buNone/>
            </a:pPr>
            <a:r>
              <a:rPr lang="en-US" sz="2400" dirty="0">
                <a:latin typeface="Times New Roman" panose="02020603050405020304" pitchFamily="18" charset="0"/>
                <a:cs typeface="Times New Roman" panose="02020603050405020304" pitchFamily="18" charset="0"/>
              </a:rPr>
              <a:t>SunlightHoursDay- average daily exposure of sun to the crop</a:t>
            </a:r>
          </a:p>
          <a:p>
            <a:pPr marL="0" indent="0">
              <a:buNone/>
            </a:pPr>
            <a:r>
              <a:rPr lang="en-IN" sz="2400" b="1" dirty="0">
                <a:latin typeface="Times New Roman" panose="02020603050405020304" pitchFamily="18" charset="0"/>
                <a:cs typeface="Times New Roman" panose="02020603050405020304" pitchFamily="18" charset="0"/>
              </a:rPr>
              <a:t>Soil Characteristics:</a:t>
            </a:r>
          </a:p>
          <a:p>
            <a:pPr marL="0" indent="0">
              <a:buNone/>
            </a:pPr>
            <a:r>
              <a:rPr lang="en-IN" sz="2400" dirty="0">
                <a:latin typeface="Times New Roman" panose="02020603050405020304" pitchFamily="18" charset="0"/>
                <a:cs typeface="Times New Roman" panose="02020603050405020304" pitchFamily="18" charset="0"/>
              </a:rPr>
              <a:t>Soil_pH- pH value indicating acidity/alkalinity of soil</a:t>
            </a:r>
          </a:p>
          <a:p>
            <a:pPr marL="0" indent="0">
              <a:buNone/>
            </a:pPr>
            <a:r>
              <a:rPr lang="en-IN" sz="2400" dirty="0">
                <a:latin typeface="Times New Roman" panose="02020603050405020304" pitchFamily="18" charset="0"/>
                <a:cs typeface="Times New Roman" panose="02020603050405020304" pitchFamily="18" charset="0"/>
              </a:rPr>
              <a:t>SoilMoisturepct- average water content in soil as percentage</a:t>
            </a:r>
          </a:p>
          <a:p>
            <a:pPr marL="0" indent="0">
              <a:buNone/>
            </a:pPr>
            <a:r>
              <a:rPr lang="en-IN" sz="2400" dirty="0">
                <a:latin typeface="Times New Roman" panose="02020603050405020304" pitchFamily="18" charset="0"/>
                <a:cs typeface="Times New Roman" panose="02020603050405020304" pitchFamily="18" charset="0"/>
              </a:rPr>
              <a:t>Nitrogenkgha, Phosphoruskgha, Potassiumkgha- Nitrogen, Phosphorous and Potassium composition of soil</a:t>
            </a:r>
          </a:p>
          <a:p>
            <a:pPr marL="0" indent="0">
              <a:buNone/>
            </a:pPr>
            <a:r>
              <a:rPr lang="en-IN" sz="2400" b="1" dirty="0">
                <a:latin typeface="Times New Roman" panose="02020603050405020304" pitchFamily="18" charset="0"/>
                <a:cs typeface="Times New Roman" panose="02020603050405020304" pitchFamily="18" charset="0"/>
              </a:rPr>
              <a:t>Farming inputs and practices:</a:t>
            </a:r>
          </a:p>
          <a:p>
            <a:pPr marL="0" indent="0">
              <a:buNone/>
            </a:pPr>
            <a:r>
              <a:rPr lang="en-IN" sz="2400" dirty="0">
                <a:latin typeface="Times New Roman" panose="02020603050405020304" pitchFamily="18" charset="0"/>
                <a:cs typeface="Times New Roman" panose="02020603050405020304" pitchFamily="18" charset="0"/>
              </a:rPr>
              <a:t>Irrigation_Method- method through which the land is been irrigated (Drip, Canal, Sprinkler, Rain-fed)</a:t>
            </a:r>
          </a:p>
          <a:p>
            <a:pPr marL="0" indent="0">
              <a:buNone/>
            </a:pPr>
            <a:r>
              <a:rPr lang="en-IN" sz="2400" dirty="0">
                <a:latin typeface="Times New Roman" panose="02020603050405020304" pitchFamily="18" charset="0"/>
                <a:cs typeface="Times New Roman" panose="02020603050405020304" pitchFamily="18" charset="0"/>
              </a:rPr>
              <a:t>Fertilizerkgha- per hectare rate of fertilizer usage</a:t>
            </a:r>
          </a:p>
          <a:p>
            <a:pPr marL="0" indent="0">
              <a:buNone/>
            </a:pPr>
            <a:r>
              <a:rPr lang="en-IN" sz="2400" dirty="0">
                <a:latin typeface="Times New Roman" panose="02020603050405020304" pitchFamily="18" charset="0"/>
                <a:cs typeface="Times New Roman" panose="02020603050405020304" pitchFamily="18" charset="0"/>
              </a:rPr>
              <a:t>PesticideLitreha- per hectare rate of pesticide usage</a:t>
            </a:r>
          </a:p>
          <a:p>
            <a:pPr marL="0" indent="0">
              <a:buNone/>
            </a:pPr>
            <a:r>
              <a:rPr lang="en-IN" sz="2400" dirty="0">
                <a:latin typeface="Times New Roman" panose="02020603050405020304" pitchFamily="18" charset="0"/>
                <a:cs typeface="Times New Roman" panose="02020603050405020304" pitchFamily="18" charset="0"/>
              </a:rPr>
              <a:t>SeedQualityScore - performance of seed quality (1-5)</a:t>
            </a:r>
          </a:p>
        </p:txBody>
      </p:sp>
    </p:spTree>
    <p:extLst>
      <p:ext uri="{BB962C8B-B14F-4D97-AF65-F5344CB8AC3E}">
        <p14:creationId xmlns:p14="http://schemas.microsoft.com/office/powerpoint/2010/main" val="374979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1192E3-6D10-188D-7CFB-9868D9D16133}"/>
              </a:ext>
            </a:extLst>
          </p:cNvPr>
          <p:cNvSpPr>
            <a:spLocks noGrp="1"/>
          </p:cNvSpPr>
          <p:nvPr>
            <p:ph idx="1"/>
          </p:nvPr>
        </p:nvSpPr>
        <p:spPr>
          <a:xfrm>
            <a:off x="503902" y="344130"/>
            <a:ext cx="11088329" cy="5801032"/>
          </a:xfrm>
        </p:spPr>
        <p:txBody>
          <a:bodyPr>
            <a:noAutofit/>
          </a:bodyPr>
          <a:lstStyle/>
          <a:p>
            <a:pPr marL="0" indent="0">
              <a:buNone/>
            </a:pPr>
            <a:endParaRPr lang="en-US" sz="2000" b="1" dirty="0">
              <a:latin typeface="Times New Roman" panose="02020603050405020304" pitchFamily="18" charset="0"/>
              <a:cs typeface="Times New Roman" panose="02020603050405020304" pitchFamily="18" charset="0"/>
            </a:endParaRPr>
          </a:p>
          <a:p>
            <a:pPr marL="0" indent="0">
              <a:lnSpc>
                <a:spcPct val="100000"/>
              </a:lnSpc>
              <a:buNone/>
            </a:pPr>
            <a:r>
              <a:rPr lang="en-US" sz="2000" b="1" dirty="0">
                <a:latin typeface="Times New Roman" panose="02020603050405020304" pitchFamily="18" charset="0"/>
                <a:cs typeface="Times New Roman" panose="02020603050405020304" pitchFamily="18" charset="0"/>
              </a:rPr>
              <a:t>Yield &amp; Production:</a:t>
            </a:r>
          </a:p>
          <a:p>
            <a:pPr marL="0" indent="0">
              <a:lnSpc>
                <a:spcPct val="100000"/>
              </a:lnSpc>
              <a:buNone/>
            </a:pPr>
            <a:r>
              <a:rPr lang="en-US" sz="2000" dirty="0">
                <a:latin typeface="Times New Roman" panose="02020603050405020304" pitchFamily="18" charset="0"/>
                <a:cs typeface="Times New Roman" panose="02020603050405020304" pitchFamily="18" charset="0"/>
              </a:rPr>
              <a:t>YieldTonnesHa - yield rate of crop per hectare</a:t>
            </a:r>
          </a:p>
          <a:p>
            <a:pPr marL="0" indent="0">
              <a:lnSpc>
                <a:spcPct val="100000"/>
              </a:lnSpc>
              <a:buNone/>
            </a:pPr>
            <a:r>
              <a:rPr lang="en-US" sz="2000" dirty="0">
                <a:latin typeface="Times New Roman" panose="02020603050405020304" pitchFamily="18" charset="0"/>
                <a:cs typeface="Times New Roman" panose="02020603050405020304" pitchFamily="18" charset="0"/>
              </a:rPr>
              <a:t>Production_Tonnes - total production in tonnes by the farm</a:t>
            </a:r>
          </a:p>
          <a:p>
            <a:pPr marL="0" indent="0">
              <a:lnSpc>
                <a:spcPct val="100000"/>
              </a:lnSpc>
              <a:buNone/>
            </a:pPr>
            <a:r>
              <a:rPr lang="en-US" sz="2000" b="1" dirty="0">
                <a:latin typeface="Times New Roman" panose="02020603050405020304" pitchFamily="18" charset="0"/>
                <a:cs typeface="Times New Roman" panose="02020603050405020304" pitchFamily="18" charset="0"/>
              </a:rPr>
              <a:t>Financials:</a:t>
            </a:r>
          </a:p>
          <a:p>
            <a:pPr marL="0" indent="0">
              <a:lnSpc>
                <a:spcPct val="100000"/>
              </a:lnSpc>
              <a:buNone/>
            </a:pPr>
            <a:r>
              <a:rPr lang="en-US" sz="2000" dirty="0">
                <a:latin typeface="Times New Roman" panose="02020603050405020304" pitchFamily="18" charset="0"/>
                <a:cs typeface="Times New Roman" panose="02020603050405020304" pitchFamily="18" charset="0"/>
              </a:rPr>
              <a:t>MarketPriceINR_Tonne - market rate at which crop can be sold</a:t>
            </a:r>
          </a:p>
          <a:p>
            <a:pPr marL="0" indent="0">
              <a:lnSpc>
                <a:spcPct val="100000"/>
              </a:lnSpc>
              <a:buNone/>
            </a:pPr>
            <a:r>
              <a:rPr lang="en-US" sz="2000" dirty="0">
                <a:latin typeface="Times New Roman" panose="02020603050405020304" pitchFamily="18" charset="0"/>
                <a:cs typeface="Times New Roman" panose="02020603050405020304" pitchFamily="18" charset="0"/>
              </a:rPr>
              <a:t>TotalCostINR-total expenses by the farmer</a:t>
            </a:r>
          </a:p>
          <a:p>
            <a:pPr marL="0" indent="0">
              <a:lnSpc>
                <a:spcPct val="100000"/>
              </a:lnSpc>
              <a:buNone/>
            </a:pPr>
            <a:r>
              <a:rPr lang="en-US" sz="2000" dirty="0">
                <a:latin typeface="Times New Roman" panose="02020603050405020304" pitchFamily="18" charset="0"/>
                <a:cs typeface="Times New Roman" panose="02020603050405020304" pitchFamily="18" charset="0"/>
              </a:rPr>
              <a:t>Revenue_INR- total earnings made from the yield</a:t>
            </a:r>
          </a:p>
          <a:p>
            <a:pPr marL="0" indent="0">
              <a:lnSpc>
                <a:spcPct val="100000"/>
              </a:lnSpc>
              <a:buNone/>
            </a:pPr>
            <a:r>
              <a:rPr lang="en-US" sz="2000" dirty="0">
                <a:latin typeface="Times New Roman" panose="02020603050405020304" pitchFamily="18" charset="0"/>
                <a:cs typeface="Times New Roman" panose="02020603050405020304" pitchFamily="18" charset="0"/>
              </a:rPr>
              <a:t>Profit_INR- net profit</a:t>
            </a:r>
          </a:p>
          <a:p>
            <a:pPr marL="0" indent="0">
              <a:lnSpc>
                <a:spcPct val="100000"/>
              </a:lnSpc>
              <a:buNone/>
            </a:pPr>
            <a:r>
              <a:rPr lang="en-US" sz="2000" b="1" dirty="0">
                <a:latin typeface="Times New Roman" panose="02020603050405020304" pitchFamily="18" charset="0"/>
                <a:cs typeface="Times New Roman" panose="02020603050405020304" pitchFamily="18" charset="0"/>
              </a:rPr>
              <a:t>Resource efficiency and risk:</a:t>
            </a:r>
          </a:p>
          <a:p>
            <a:pPr marL="0" indent="0">
              <a:lnSpc>
                <a:spcPct val="100000"/>
              </a:lnSpc>
              <a:buNone/>
            </a:pPr>
            <a:r>
              <a:rPr lang="en-US" sz="2000" dirty="0">
                <a:latin typeface="Times New Roman" panose="02020603050405020304" pitchFamily="18" charset="0"/>
                <a:cs typeface="Times New Roman" panose="02020603050405020304" pitchFamily="18" charset="0"/>
              </a:rPr>
              <a:t>WaterUsedm3 - total volume of water utilized for farm at a season</a:t>
            </a:r>
          </a:p>
          <a:p>
            <a:pPr marL="0" indent="0">
              <a:lnSpc>
                <a:spcPct val="100000"/>
              </a:lnSpc>
              <a:buNone/>
            </a:pPr>
            <a:r>
              <a:rPr lang="en-US" sz="2000" dirty="0">
                <a:latin typeface="Times New Roman" panose="02020603050405020304" pitchFamily="18" charset="0"/>
                <a:cs typeface="Times New Roman" panose="02020603050405020304" pitchFamily="18" charset="0"/>
              </a:rPr>
              <a:t>WaterEfficiencytper1000m3- total yield per 1000 m3 of water consumed</a:t>
            </a:r>
          </a:p>
          <a:p>
            <a:pPr marL="0" indent="0">
              <a:lnSpc>
                <a:spcPct val="100000"/>
              </a:lnSpc>
              <a:buNone/>
            </a:pPr>
            <a:r>
              <a:rPr lang="en-US" sz="2000" dirty="0">
                <a:latin typeface="Times New Roman" panose="02020603050405020304" pitchFamily="18" charset="0"/>
                <a:cs typeface="Times New Roman" panose="02020603050405020304" pitchFamily="18" charset="0"/>
              </a:rPr>
              <a:t>DiseasePestRisk_pct - potential percentage risk of attack of diseases/pests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929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CF3C0-EB97-A725-23D7-DD49B0655241}"/>
              </a:ext>
            </a:extLst>
          </p:cNvPr>
          <p:cNvSpPr>
            <a:spLocks noGrp="1"/>
          </p:cNvSpPr>
          <p:nvPr>
            <p:ph type="title"/>
          </p:nvPr>
        </p:nvSpPr>
        <p:spPr>
          <a:xfrm>
            <a:off x="1407242" y="197976"/>
            <a:ext cx="9377516" cy="509947"/>
          </a:xfrm>
        </p:spPr>
        <p:txBody>
          <a:bodyPr>
            <a:normAutofit/>
          </a:bodyPr>
          <a:lstStyle/>
          <a:p>
            <a:pPr algn="ctr"/>
            <a:r>
              <a:rPr lang="en-IN" sz="3000"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F33E5024-25CE-3BDF-CC0F-0941BD6C47F7}"/>
              </a:ext>
            </a:extLst>
          </p:cNvPr>
          <p:cNvSpPr>
            <a:spLocks noGrp="1"/>
          </p:cNvSpPr>
          <p:nvPr>
            <p:ph idx="1"/>
          </p:nvPr>
        </p:nvSpPr>
        <p:spPr>
          <a:xfrm>
            <a:off x="196645" y="884903"/>
            <a:ext cx="11661057" cy="5775122"/>
          </a:xfrm>
        </p:spPr>
        <p:txBody>
          <a:bodyPr>
            <a:no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does agricultural performance vary across seasons?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 major seasonal patterns can be observed?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Which characteristics change between seasons?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What differences exist between agricultural activities in different seasons?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Are there noticeable variations in resource usage across seasons?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Are there relationships between seasonal environmental conditions and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agricultural performance?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do economic outcomes vary across seasons?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Are some seasonal patterns consistent across different regions or categories?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Are there unusual or unexpected seasonal patterns?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 insights can be derived from the observed seasonal differences?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 conclusions can reasonably be drawn from the available data?</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could the findings support better seasonal agricultural planning?</a:t>
            </a:r>
            <a:endParaRPr lang="en-IN" sz="16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777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F71C1-0EDF-EFFE-538E-FB55B495EE7B}"/>
              </a:ext>
            </a:extLst>
          </p:cNvPr>
          <p:cNvSpPr>
            <a:spLocks noGrp="1"/>
          </p:cNvSpPr>
          <p:nvPr>
            <p:ph type="title"/>
          </p:nvPr>
        </p:nvSpPr>
        <p:spPr>
          <a:xfrm>
            <a:off x="960743" y="98323"/>
            <a:ext cx="9404723" cy="678426"/>
          </a:xfrm>
        </p:spPr>
        <p:txBody>
          <a:bodyPr>
            <a:normAutofit/>
          </a:bodyPr>
          <a:lstStyle/>
          <a:p>
            <a:pPr algn="ctr"/>
            <a:r>
              <a:rPr lang="en-IN" sz="3000" dirty="0">
                <a:latin typeface="Times New Roman" panose="02020603050405020304" pitchFamily="18" charset="0"/>
                <a:cs typeface="Times New Roman" panose="02020603050405020304" pitchFamily="18" charset="0"/>
              </a:rPr>
              <a:t>What is Data Wrangling ? </a:t>
            </a:r>
            <a:endParaRPr lang="en-IN" sz="3000" dirty="0"/>
          </a:p>
        </p:txBody>
      </p:sp>
      <p:sp>
        <p:nvSpPr>
          <p:cNvPr id="3" name="Content Placeholder 2">
            <a:extLst>
              <a:ext uri="{FF2B5EF4-FFF2-40B4-BE49-F238E27FC236}">
                <a16:creationId xmlns:a16="http://schemas.microsoft.com/office/drawing/2014/main" id="{86417D72-C0EC-C37A-DA50-23DC33D38D80}"/>
              </a:ext>
            </a:extLst>
          </p:cNvPr>
          <p:cNvSpPr>
            <a:spLocks noGrp="1"/>
          </p:cNvSpPr>
          <p:nvPr>
            <p:ph idx="1"/>
          </p:nvPr>
        </p:nvSpPr>
        <p:spPr>
          <a:xfrm>
            <a:off x="838200" y="1825625"/>
            <a:ext cx="10515600" cy="1222375"/>
          </a:xfrm>
        </p:spPr>
        <p:txBody>
          <a:bodyPr>
            <a:normAutofit fontScale="85000" lnSpcReduction="20000"/>
          </a:bodyPr>
          <a:lstStyle/>
          <a:p>
            <a:pPr marL="0" indent="0">
              <a:buNone/>
            </a:pPr>
            <a:r>
              <a:rPr lang="en-US" sz="2000" dirty="0">
                <a:latin typeface="Times New Roman" panose="02020603050405020304" pitchFamily="18" charset="0"/>
                <a:cs typeface="Times New Roman" panose="02020603050405020304" pitchFamily="18" charset="0"/>
              </a:rPr>
              <a:t>Data wrangling, a crucial phase in the data analysis process, involves preparing and cleaning raw data to make it suitable for analysis. This involves various tasks such as handling missing values, removing duplicates, and transforming data into a consistent format. Effective data wrangling ensures that the data is reliable and ready for exploration, enabling meaningful insights to be derived from it.</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25793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04CD-D59E-B335-AC7A-6CEC3F5D96EB}"/>
              </a:ext>
            </a:extLst>
          </p:cNvPr>
          <p:cNvSpPr>
            <a:spLocks noGrp="1"/>
          </p:cNvSpPr>
          <p:nvPr>
            <p:ph type="title"/>
          </p:nvPr>
        </p:nvSpPr>
        <p:spPr>
          <a:xfrm>
            <a:off x="1147556" y="108155"/>
            <a:ext cx="9404723" cy="639097"/>
          </a:xfrm>
        </p:spPr>
        <p:txBody>
          <a:bodyPr>
            <a:normAutofit/>
          </a:bodyPr>
          <a:lstStyle/>
          <a:p>
            <a:pPr algn="ctr"/>
            <a:r>
              <a:rPr lang="en-IN" sz="3000" dirty="0">
                <a:latin typeface="Times New Roman" panose="02020603050405020304" pitchFamily="18" charset="0"/>
                <a:cs typeface="Times New Roman" panose="02020603050405020304" pitchFamily="18" charset="0"/>
              </a:rPr>
              <a:t>What is the </a:t>
            </a:r>
            <a:r>
              <a:rPr lang="en-US" sz="3000" dirty="0">
                <a:latin typeface="Times New Roman" panose="02020603050405020304" pitchFamily="18" charset="0"/>
                <a:cs typeface="Times New Roman" panose="02020603050405020304" pitchFamily="18" charset="0"/>
              </a:rPr>
              <a:t>Exploratory Data Analysis (EDA)</a:t>
            </a:r>
            <a:endParaRPr lang="en-IN" sz="3000" dirty="0"/>
          </a:p>
        </p:txBody>
      </p:sp>
      <p:sp>
        <p:nvSpPr>
          <p:cNvPr id="3" name="Content Placeholder 2">
            <a:extLst>
              <a:ext uri="{FF2B5EF4-FFF2-40B4-BE49-F238E27FC236}">
                <a16:creationId xmlns:a16="http://schemas.microsoft.com/office/drawing/2014/main" id="{54855031-6C93-457F-108B-F62E260617A2}"/>
              </a:ext>
            </a:extLst>
          </p:cNvPr>
          <p:cNvSpPr>
            <a:spLocks noGrp="1"/>
          </p:cNvSpPr>
          <p:nvPr>
            <p:ph idx="1"/>
          </p:nvPr>
        </p:nvSpPr>
        <p:spPr>
          <a:xfrm>
            <a:off x="838200" y="1825625"/>
            <a:ext cx="10515600" cy="1743485"/>
          </a:xfrm>
        </p:spPr>
        <p:txBody>
          <a:bodyPr>
            <a:normAutofit fontScale="85000" lnSpcReduction="10000"/>
          </a:bodyPr>
          <a:lstStyle/>
          <a:p>
            <a:pPr marL="0" indent="0">
              <a:buNone/>
            </a:pPr>
            <a:r>
              <a:rPr lang="en-US" sz="2000" dirty="0">
                <a:latin typeface="Times New Roman" panose="02020603050405020304" pitchFamily="18" charset="0"/>
                <a:cs typeface="Times New Roman" panose="02020603050405020304" pitchFamily="18" charset="0"/>
              </a:rPr>
              <a:t>Exploratory Data Analysis (EDA)is a vital phase in data analysis involving the examination and visualization of data to uncover patterns ,trends, and insights.in the context of an Airbnb data analysis project, EDA allows researchers to gain a Comprehensive understanding of the dataset's characteristics, distribution and relationships between variables. Through techniques such as summary stastics, data visualization ,and correlation analysis, EDA sets the stage for further investigation and hypothesis testing, uiding subsequent analytical decisions.</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212114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E85B-4937-55B9-7D26-D25C17A87421}"/>
              </a:ext>
            </a:extLst>
          </p:cNvPr>
          <p:cNvSpPr>
            <a:spLocks noGrp="1"/>
          </p:cNvSpPr>
          <p:nvPr>
            <p:ph type="title"/>
          </p:nvPr>
        </p:nvSpPr>
        <p:spPr>
          <a:xfrm>
            <a:off x="1015180" y="196645"/>
            <a:ext cx="10515600" cy="501445"/>
          </a:xfrm>
        </p:spPr>
        <p:txBody>
          <a:bodyPr>
            <a:normAutofit/>
          </a:bodyPr>
          <a:lstStyle/>
          <a:p>
            <a:r>
              <a:rPr lang="en-IN" sz="3000" dirty="0">
                <a:latin typeface="Times New Roman" panose="02020603050405020304" pitchFamily="18" charset="0"/>
                <a:cs typeface="Times New Roman" panose="02020603050405020304" pitchFamily="18" charset="0"/>
              </a:rPr>
              <a:t>                               End Users of this Project </a:t>
            </a:r>
          </a:p>
        </p:txBody>
      </p:sp>
      <p:sp>
        <p:nvSpPr>
          <p:cNvPr id="3" name="Content Placeholder 2">
            <a:extLst>
              <a:ext uri="{FF2B5EF4-FFF2-40B4-BE49-F238E27FC236}">
                <a16:creationId xmlns:a16="http://schemas.microsoft.com/office/drawing/2014/main" id="{C8F1AB17-66A5-F562-A70F-B546B0D6291C}"/>
              </a:ext>
            </a:extLst>
          </p:cNvPr>
          <p:cNvSpPr>
            <a:spLocks noGrp="1"/>
          </p:cNvSpPr>
          <p:nvPr>
            <p:ph idx="1"/>
          </p:nvPr>
        </p:nvSpPr>
        <p:spPr>
          <a:xfrm>
            <a:off x="838200" y="1002890"/>
            <a:ext cx="10515600" cy="5489985"/>
          </a:xfrm>
        </p:spPr>
        <p:txBody>
          <a:bodyPr>
            <a:normAutofit fontScale="92500" lnSpcReduction="10000"/>
          </a:bodyPr>
          <a:lstStyle/>
          <a:p>
            <a:pPr marL="0" indent="0">
              <a:lnSpc>
                <a:spcPct val="110000"/>
              </a:lnSpc>
              <a:spcBef>
                <a:spcPts val="0"/>
              </a:spcBef>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Farmers and Agricultural Producers</a:t>
            </a:r>
            <a:r>
              <a:rPr lang="en-US" sz="2000" dirty="0">
                <a:latin typeface="Times New Roman" panose="02020603050405020304" pitchFamily="18" charset="0"/>
                <a:cs typeface="Times New Roman" panose="02020603050405020304" pitchFamily="18" charset="0"/>
              </a:rPr>
              <a:t>: Individual/smallholder farmers looking for guidance on the right choices for crops, irrigation and fertilization for their regions and season Large-scale commercial farmers aiming to optimize input costs and increase profit margin.</a:t>
            </a:r>
          </a:p>
          <a:p>
            <a:pPr marL="0" indent="0">
              <a:lnSpc>
                <a:spcPct val="110000"/>
              </a:lnSpc>
              <a:spcBef>
                <a:spcPts val="0"/>
              </a:spcBef>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Government Departments and Policymakers for Agriculture: </a:t>
            </a:r>
            <a:r>
              <a:rPr lang="en-US" sz="2000" dirty="0">
                <a:latin typeface="Times New Roman" panose="02020603050405020304" pitchFamily="18" charset="0"/>
                <a:cs typeface="Times New Roman" panose="02020603050405020304" pitchFamily="18" charset="0"/>
              </a:rPr>
              <a:t>State/district agriculture departments producing advisories and subsidizing crops for different regions of the state/district Policy planners allocating irrigation facilities and water usage based on regional efficiencies. Disaster management and disaster preparedness agencies to assess potential disaster zones of drought or epidemic. </a:t>
            </a:r>
          </a:p>
          <a:p>
            <a:pPr marL="0" indent="0">
              <a:lnSpc>
                <a:spcPct val="110000"/>
              </a:lnSpc>
              <a:spcBef>
                <a:spcPts val="0"/>
              </a:spcBef>
              <a:buNone/>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Agricultural Scientists and Researchers: </a:t>
            </a:r>
            <a:r>
              <a:rPr lang="en-US" sz="2000" dirty="0">
                <a:latin typeface="Times New Roman" panose="02020603050405020304" pitchFamily="18" charset="0"/>
                <a:cs typeface="Times New Roman" panose="02020603050405020304" pitchFamily="18" charset="0"/>
              </a:rPr>
              <a:t>Agronomists studying influencing factors of crop yield like soil properties, weather conditions and inputs The concerned agricultural scientists involved in crop performance study (like at ICAR, Agricultural universities etc).</a:t>
            </a:r>
          </a:p>
          <a:p>
            <a:pPr marL="0" indent="0">
              <a:lnSpc>
                <a:spcPct val="110000"/>
              </a:lnSpc>
              <a:spcBef>
                <a:spcPts val="0"/>
              </a:spcBef>
              <a:buNone/>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Agribusiness and Agri-Input Companies: </a:t>
            </a:r>
            <a:r>
              <a:rPr lang="en-US" sz="2000" dirty="0">
                <a:latin typeface="Times New Roman" panose="02020603050405020304" pitchFamily="18" charset="0"/>
                <a:cs typeface="Times New Roman" panose="02020603050405020304" pitchFamily="18" charset="0"/>
              </a:rPr>
              <a:t>Fertilizer/pesticide manufacturers looking to identify regions that can have specific pest risk or nutrient deficiencies. Seed companies analyzing the impact of seed types on the crop yield. Irrigation equipment suppliers looking to identify inefficient or underserved regions which may be potential market for drip/sprinkler systems.</a:t>
            </a:r>
          </a:p>
          <a:p>
            <a:pPr marL="0" indent="0">
              <a:lnSpc>
                <a:spcPct val="110000"/>
              </a:lnSpc>
              <a:spcBef>
                <a:spcPts val="0"/>
              </a:spcBef>
              <a:buNone/>
            </a:pPr>
            <a:r>
              <a:rPr lang="en-US" sz="2000"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Banks and Financial Institutions: </a:t>
            </a:r>
            <a:r>
              <a:rPr lang="en-US" sz="2000" dirty="0">
                <a:latin typeface="Times New Roman" panose="02020603050405020304" pitchFamily="18" charset="0"/>
                <a:cs typeface="Times New Roman" panose="02020603050405020304" pitchFamily="18" charset="0"/>
              </a:rPr>
              <a:t>Agriculture loan officers at banks looking to assess crop productivity, profitability and the corresponding risk before approving loans Crop insurance providers for assessing risk and determining premium for different regions and crops.</a:t>
            </a:r>
          </a:p>
          <a:p>
            <a:pPr marL="0" indent="0">
              <a:lnSpc>
                <a:spcPct val="110000"/>
              </a:lnSpc>
              <a:spcBef>
                <a:spcPts val="0"/>
              </a:spcBef>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131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01570-DA99-587E-2546-A6A035D91BF7}"/>
              </a:ext>
            </a:extLst>
          </p:cNvPr>
          <p:cNvSpPr>
            <a:spLocks noGrp="1"/>
          </p:cNvSpPr>
          <p:nvPr>
            <p:ph idx="1"/>
          </p:nvPr>
        </p:nvSpPr>
        <p:spPr>
          <a:xfrm>
            <a:off x="838200" y="894735"/>
            <a:ext cx="10515600" cy="551820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Agri-Tech and Precision Farming Companies:</a:t>
            </a:r>
            <a:r>
              <a:rPr lang="en-US" sz="2000" dirty="0">
                <a:latin typeface="Times New Roman" panose="02020603050405020304" pitchFamily="18" charset="0"/>
                <a:cs typeface="Times New Roman" panose="02020603050405020304" pitchFamily="18" charset="0"/>
              </a:rPr>
              <a:t> Start-ups building crop advisories, prediction tools or farm management apps for farmers, utilizing the data for training the underlying Machine Learning models. IoT/ sensor  based solution providers integrating this into their data analytics platform to improve decision-making for farms.</a:t>
            </a:r>
          </a:p>
          <a:p>
            <a:pPr marL="0" indent="0">
              <a:buNone/>
            </a:pPr>
            <a:r>
              <a:rPr lang="en-US" sz="2000" dirty="0">
                <a:latin typeface="Times New Roman" panose="02020603050405020304" pitchFamily="18" charset="0"/>
                <a:cs typeface="Times New Roman" panose="02020603050405020304" pitchFamily="18" charset="0"/>
              </a:rPr>
              <a:t>7. </a:t>
            </a:r>
            <a:r>
              <a:rPr lang="en-US" sz="2000" b="1" dirty="0">
                <a:latin typeface="Times New Roman" panose="02020603050405020304" pitchFamily="18" charset="0"/>
                <a:cs typeface="Times New Roman" panose="02020603050405020304" pitchFamily="18" charset="0"/>
              </a:rPr>
              <a:t>Commodity Traders and Market Analysts: </a:t>
            </a:r>
            <a:r>
              <a:rPr lang="en-US" sz="2000" dirty="0">
                <a:latin typeface="Times New Roman" panose="02020603050405020304" pitchFamily="18" charset="0"/>
                <a:cs typeface="Times New Roman" panose="02020603050405020304" pitchFamily="18" charset="0"/>
              </a:rPr>
              <a:t>Traders who predict the production volume of specific crops and the corresponding market prices using regional yield information Supply chain and logistic planners responsible for bulk procurement of crops from regions.</a:t>
            </a:r>
          </a:p>
          <a:p>
            <a:pPr marL="0" indent="0">
              <a:buNone/>
            </a:pPr>
            <a:r>
              <a:rPr lang="en-US" sz="2000" dirty="0">
                <a:latin typeface="Times New Roman" panose="02020603050405020304" pitchFamily="18" charset="0"/>
                <a:cs typeface="Times New Roman" panose="02020603050405020304" pitchFamily="18" charset="0"/>
              </a:rPr>
              <a:t>8. </a:t>
            </a:r>
            <a:r>
              <a:rPr lang="en-US" sz="2000" b="1" dirty="0">
                <a:latin typeface="Times New Roman" panose="02020603050405020304" pitchFamily="18" charset="0"/>
                <a:cs typeface="Times New Roman" panose="02020603050405020304" pitchFamily="18" charset="0"/>
              </a:rPr>
              <a:t>NGOs and Sustainability Organizations: </a:t>
            </a:r>
            <a:r>
              <a:rPr lang="en-US" sz="2000" dirty="0">
                <a:latin typeface="Times New Roman" panose="02020603050405020304" pitchFamily="18" charset="0"/>
                <a:cs typeface="Times New Roman" panose="02020603050405020304" pitchFamily="18" charset="0"/>
              </a:rPr>
              <a:t>NGOs working on water conservation and promoting efficient irrigation systems. Organizations concerned with developing sustainable and climate resilient agriculture in the country.</a:t>
            </a:r>
          </a:p>
          <a:p>
            <a:pPr marL="0" indent="0">
              <a:buNone/>
            </a:pPr>
            <a:r>
              <a:rPr lang="en-US" sz="2000" dirty="0">
                <a:latin typeface="Times New Roman" panose="02020603050405020304" pitchFamily="18" charset="0"/>
                <a:cs typeface="Times New Roman" panose="02020603050405020304" pitchFamily="18" charset="0"/>
              </a:rPr>
              <a:t>9. </a:t>
            </a:r>
            <a:r>
              <a:rPr lang="en-US" sz="2000" b="1" dirty="0">
                <a:latin typeface="Times New Roman" panose="02020603050405020304" pitchFamily="18" charset="0"/>
                <a:cs typeface="Times New Roman" panose="02020603050405020304" pitchFamily="18" charset="0"/>
              </a:rPr>
              <a:t>Students and Data Analysts: </a:t>
            </a:r>
            <a:r>
              <a:rPr lang="en-US" sz="2000" dirty="0">
                <a:latin typeface="Times New Roman" panose="02020603050405020304" pitchFamily="18" charset="0"/>
                <a:cs typeface="Times New Roman" panose="02020603050405020304" pitchFamily="18" charset="0"/>
              </a:rPr>
              <a:t>Students looking to develop agricultural data analytics, ML models, or dashboards for showcasing in their academic projects or learning.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3576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059BD-6510-A89C-4CB5-BC28E2F0D021}"/>
              </a:ext>
            </a:extLst>
          </p:cNvPr>
          <p:cNvSpPr>
            <a:spLocks noGrp="1"/>
          </p:cNvSpPr>
          <p:nvPr>
            <p:ph type="title"/>
          </p:nvPr>
        </p:nvSpPr>
        <p:spPr>
          <a:xfrm>
            <a:off x="838200" y="225181"/>
            <a:ext cx="10515600" cy="455856"/>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Technologies Used In this Project </a:t>
            </a:r>
            <a:endParaRPr lang="en-IN" sz="3000" dirty="0"/>
          </a:p>
        </p:txBody>
      </p:sp>
      <p:sp>
        <p:nvSpPr>
          <p:cNvPr id="3" name="Content Placeholder 2">
            <a:extLst>
              <a:ext uri="{FF2B5EF4-FFF2-40B4-BE49-F238E27FC236}">
                <a16:creationId xmlns:a16="http://schemas.microsoft.com/office/drawing/2014/main" id="{EE9637D1-E5D7-6AF8-9657-94A52858BDF8}"/>
              </a:ext>
            </a:extLst>
          </p:cNvPr>
          <p:cNvSpPr>
            <a:spLocks noGrp="1"/>
          </p:cNvSpPr>
          <p:nvPr>
            <p:ph idx="1"/>
          </p:nvPr>
        </p:nvSpPr>
        <p:spPr>
          <a:xfrm>
            <a:off x="838200" y="1150374"/>
            <a:ext cx="10515600" cy="5270091"/>
          </a:xfrm>
        </p:spPr>
        <p:txBody>
          <a:bodyPr>
            <a:normAutofit fontScale="85000" lnSpcReduction="20000"/>
          </a:bodyPr>
          <a:lstStyle/>
          <a:p>
            <a:pPr marL="0" indent="0">
              <a:buNone/>
            </a:pPr>
            <a:r>
              <a:rPr lang="en-US" sz="2200" b="1" u="sng" dirty="0">
                <a:latin typeface="Times New Roman" panose="02020603050405020304" pitchFamily="18" charset="0"/>
                <a:cs typeface="Times New Roman" panose="02020603050405020304" pitchFamily="18" charset="0"/>
              </a:rPr>
              <a:t>Hardware Requirements</a:t>
            </a:r>
          </a:p>
          <a:p>
            <a:pPr marL="0" indent="0">
              <a:buNone/>
            </a:pPr>
            <a:r>
              <a:rPr lang="en-IN" sz="2200" dirty="0">
                <a:latin typeface="Times New Roman" panose="02020603050405020304" pitchFamily="18" charset="0"/>
                <a:cs typeface="Times New Roman" panose="02020603050405020304" pitchFamily="18" charset="0"/>
              </a:rPr>
              <a:t>The hardware requirements for performing the Seasonal Agriculture Performance Analysis are:</a:t>
            </a:r>
            <a:endParaRPr lang="en-IN" sz="2200" u="sng" dirty="0">
              <a:latin typeface="Times New Roman" panose="02020603050405020304" pitchFamily="18" charset="0"/>
              <a:cs typeface="Times New Roman" panose="02020603050405020304" pitchFamily="18" charset="0"/>
            </a:endParaRPr>
          </a:p>
          <a:p>
            <a:pPr lvl="2"/>
            <a:r>
              <a:rPr lang="en-US" sz="2200" dirty="0">
                <a:latin typeface="Times New Roman" panose="02020603050405020304" pitchFamily="18" charset="0"/>
                <a:cs typeface="Times New Roman" panose="02020603050405020304" pitchFamily="18" charset="0"/>
              </a:rPr>
              <a:t>RAM – 8.00 GB</a:t>
            </a:r>
            <a:endParaRPr lang="en-IN" sz="2200" dirty="0">
              <a:latin typeface="Times New Roman" panose="02020603050405020304" pitchFamily="18" charset="0"/>
              <a:cs typeface="Times New Roman" panose="02020603050405020304" pitchFamily="18" charset="0"/>
            </a:endParaRPr>
          </a:p>
          <a:p>
            <a:pPr lvl="2"/>
            <a:r>
              <a:rPr lang="en-US" sz="2200" dirty="0">
                <a:latin typeface="Times New Roman" panose="02020603050405020304" pitchFamily="18" charset="0"/>
                <a:cs typeface="Times New Roman" panose="02020603050405020304" pitchFamily="18" charset="0"/>
              </a:rPr>
              <a:t>Operating System – Windows 11 </a:t>
            </a:r>
            <a:endParaRPr lang="en-IN" sz="2200" dirty="0">
              <a:latin typeface="Times New Roman" panose="02020603050405020304" pitchFamily="18" charset="0"/>
              <a:cs typeface="Times New Roman" panose="02020603050405020304" pitchFamily="18" charset="0"/>
            </a:endParaRPr>
          </a:p>
          <a:p>
            <a:pPr lvl="2"/>
            <a:r>
              <a:rPr lang="en-US" sz="2200" dirty="0">
                <a:latin typeface="Times New Roman" panose="02020603050405020304" pitchFamily="18" charset="0"/>
                <a:cs typeface="Times New Roman" panose="02020603050405020304" pitchFamily="18" charset="0"/>
              </a:rPr>
              <a:t>Processor – Intel(R) Core(TM) i3-1115g4</a:t>
            </a:r>
            <a:endParaRPr lang="en-IN" sz="2200" dirty="0">
              <a:latin typeface="Times New Roman" panose="02020603050405020304" pitchFamily="18" charset="0"/>
              <a:cs typeface="Times New Roman" panose="02020603050405020304" pitchFamily="18" charset="0"/>
            </a:endParaRPr>
          </a:p>
          <a:p>
            <a:pPr lvl="2"/>
            <a:r>
              <a:rPr lang="en-US" sz="2200" dirty="0">
                <a:latin typeface="Times New Roman" panose="02020603050405020304" pitchFamily="18" charset="0"/>
                <a:cs typeface="Times New Roman" panose="02020603050405020304" pitchFamily="18" charset="0"/>
              </a:rPr>
              <a:t>Processor speed – 3.00 GHz</a:t>
            </a:r>
            <a:endParaRPr lang="en-IN" sz="2200" dirty="0">
              <a:latin typeface="Times New Roman" panose="02020603050405020304" pitchFamily="18" charset="0"/>
              <a:cs typeface="Times New Roman" panose="02020603050405020304" pitchFamily="18" charset="0"/>
            </a:endParaRPr>
          </a:p>
          <a:p>
            <a:pPr marL="0" indent="0">
              <a:buNone/>
            </a:pPr>
            <a:r>
              <a:rPr lang="en-IN" sz="2200" b="1" u="sng" dirty="0">
                <a:latin typeface="Times New Roman" panose="02020603050405020304" pitchFamily="18" charset="0"/>
                <a:cs typeface="Times New Roman" panose="02020603050405020304" pitchFamily="18" charset="0"/>
              </a:rPr>
              <a:t>Software Requirements</a:t>
            </a:r>
          </a:p>
          <a:p>
            <a:pPr marL="0" indent="0">
              <a:buNone/>
            </a:pPr>
            <a:r>
              <a:rPr lang="en-IN" sz="2200" dirty="0">
                <a:latin typeface="Times New Roman" panose="02020603050405020304" pitchFamily="18" charset="0"/>
                <a:cs typeface="Times New Roman" panose="02020603050405020304" pitchFamily="18" charset="0"/>
              </a:rPr>
              <a:t>The software requirements for performing the Seasonal Agriculture Performance Analysis are:</a:t>
            </a:r>
          </a:p>
          <a:p>
            <a:pPr lvl="0"/>
            <a:r>
              <a:rPr lang="en-IN" sz="2200" dirty="0">
                <a:latin typeface="Times New Roman" panose="02020603050405020304" pitchFamily="18" charset="0"/>
                <a:cs typeface="Times New Roman" panose="02020603050405020304" pitchFamily="18" charset="0"/>
              </a:rPr>
              <a:t>Programming Language – Python </a:t>
            </a:r>
          </a:p>
          <a:p>
            <a:pPr lvl="0"/>
            <a:r>
              <a:rPr lang="en-IN" sz="2200" dirty="0">
                <a:latin typeface="Times New Roman" panose="02020603050405020304" pitchFamily="18" charset="0"/>
                <a:cs typeface="Times New Roman" panose="02020603050405020304" pitchFamily="18" charset="0"/>
              </a:rPr>
              <a:t>Development Environment / IDE – Jupyter Notebook </a:t>
            </a:r>
          </a:p>
          <a:p>
            <a:pPr lvl="0"/>
            <a:r>
              <a:rPr lang="en-IN" sz="2200" dirty="0">
                <a:latin typeface="Times New Roman" panose="02020603050405020304" pitchFamily="18" charset="0"/>
                <a:cs typeface="Times New Roman" panose="02020603050405020304" pitchFamily="18" charset="0"/>
              </a:rPr>
              <a:t>Data Analysis Libraries – Pandas, NumPy </a:t>
            </a:r>
          </a:p>
          <a:p>
            <a:pPr lvl="0"/>
            <a:r>
              <a:rPr lang="en-IN" sz="2200" dirty="0">
                <a:latin typeface="Times New Roman" panose="02020603050405020304" pitchFamily="18" charset="0"/>
                <a:cs typeface="Times New Roman" panose="02020603050405020304" pitchFamily="18" charset="0"/>
              </a:rPr>
              <a:t>Data Visualization Libraries – Matplotlib, Seaborn </a:t>
            </a:r>
          </a:p>
          <a:p>
            <a:pPr lvl="0"/>
            <a:r>
              <a:rPr lang="en-IN" sz="2200" dirty="0">
                <a:latin typeface="Times New Roman" panose="02020603050405020304" pitchFamily="18" charset="0"/>
                <a:cs typeface="Times New Roman" panose="02020603050405020304" pitchFamily="18" charset="0"/>
              </a:rPr>
              <a:t>Dataset Format – CSV</a:t>
            </a:r>
          </a:p>
          <a:p>
            <a:pPr marL="0" indent="0">
              <a:buNone/>
            </a:pPr>
            <a:endParaRPr lang="en-IN" dirty="0"/>
          </a:p>
        </p:txBody>
      </p:sp>
    </p:spTree>
    <p:extLst>
      <p:ext uri="{BB962C8B-B14F-4D97-AF65-F5344CB8AC3E}">
        <p14:creationId xmlns:p14="http://schemas.microsoft.com/office/powerpoint/2010/main" val="2351554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8BA74-E262-EA80-5BB3-219D4E7DBCF3}"/>
              </a:ext>
            </a:extLst>
          </p:cNvPr>
          <p:cNvSpPr>
            <a:spLocks noGrp="1"/>
          </p:cNvSpPr>
          <p:nvPr>
            <p:ph type="title"/>
          </p:nvPr>
        </p:nvSpPr>
        <p:spPr>
          <a:xfrm>
            <a:off x="1154955" y="1447801"/>
            <a:ext cx="8825658" cy="931606"/>
          </a:xfrm>
        </p:spPr>
        <p:txBody>
          <a:bodyPr>
            <a:normAutofit/>
          </a:bodyPr>
          <a:lstStyle/>
          <a:p>
            <a:pPr algn="ctr"/>
            <a:r>
              <a:rPr lang="en-IN" sz="3000" dirty="0">
                <a:latin typeface="Times New Roman" panose="02020603050405020304" pitchFamily="18" charset="0"/>
                <a:cs typeface="Times New Roman" panose="02020603050405020304" pitchFamily="18" charset="0"/>
              </a:rPr>
              <a:t>Results of this Project </a:t>
            </a:r>
          </a:p>
        </p:txBody>
      </p:sp>
    </p:spTree>
    <p:extLst>
      <p:ext uri="{BB962C8B-B14F-4D97-AF65-F5344CB8AC3E}">
        <p14:creationId xmlns:p14="http://schemas.microsoft.com/office/powerpoint/2010/main" val="175688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05F33-1C99-9F6C-B3A5-F001E1BA11FC}"/>
              </a:ext>
            </a:extLst>
          </p:cNvPr>
          <p:cNvSpPr>
            <a:spLocks noGrp="1"/>
          </p:cNvSpPr>
          <p:nvPr>
            <p:ph type="title"/>
          </p:nvPr>
        </p:nvSpPr>
        <p:spPr>
          <a:xfrm>
            <a:off x="639097" y="199981"/>
            <a:ext cx="10500851" cy="802909"/>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How does agricultural performance vary across seasons?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0135E854-FB52-0F96-AF5A-5631A3758E17}"/>
              </a:ext>
            </a:extLst>
          </p:cNvPr>
          <p:cNvPicPr>
            <a:picLocks noGrp="1" noChangeAspect="1"/>
          </p:cNvPicPr>
          <p:nvPr>
            <p:ph idx="1"/>
          </p:nvPr>
        </p:nvPicPr>
        <p:blipFill>
          <a:blip r:embed="rId2"/>
          <a:stretch>
            <a:fillRect/>
          </a:stretch>
        </p:blipFill>
        <p:spPr>
          <a:xfrm>
            <a:off x="1944520" y="1406013"/>
            <a:ext cx="7687943" cy="5252006"/>
          </a:xfrm>
          <a:prstGeom prst="rect">
            <a:avLst/>
          </a:prstGeom>
        </p:spPr>
      </p:pic>
    </p:spTree>
    <p:extLst>
      <p:ext uri="{BB962C8B-B14F-4D97-AF65-F5344CB8AC3E}">
        <p14:creationId xmlns:p14="http://schemas.microsoft.com/office/powerpoint/2010/main" val="1736180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7F771F-9A07-1DD5-870E-0F2FE1E09CAE}"/>
              </a:ext>
            </a:extLst>
          </p:cNvPr>
          <p:cNvPicPr>
            <a:picLocks noGrp="1" noChangeAspect="1"/>
          </p:cNvPicPr>
          <p:nvPr>
            <p:ph idx="1"/>
          </p:nvPr>
        </p:nvPicPr>
        <p:blipFill>
          <a:blip r:embed="rId2"/>
          <a:stretch>
            <a:fillRect/>
          </a:stretch>
        </p:blipFill>
        <p:spPr>
          <a:xfrm>
            <a:off x="1210742" y="522869"/>
            <a:ext cx="9770516" cy="5604408"/>
          </a:xfrm>
          <a:prstGeom prst="rect">
            <a:avLst/>
          </a:prstGeom>
        </p:spPr>
      </p:pic>
    </p:spTree>
    <p:extLst>
      <p:ext uri="{BB962C8B-B14F-4D97-AF65-F5344CB8AC3E}">
        <p14:creationId xmlns:p14="http://schemas.microsoft.com/office/powerpoint/2010/main" val="2884472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6A02-DC5D-14D3-4A25-EF6FE3A8DBDB}"/>
              </a:ext>
            </a:extLst>
          </p:cNvPr>
          <p:cNvSpPr>
            <a:spLocks noGrp="1"/>
          </p:cNvSpPr>
          <p:nvPr>
            <p:ph type="title"/>
          </p:nvPr>
        </p:nvSpPr>
        <p:spPr>
          <a:xfrm>
            <a:off x="1160205" y="68826"/>
            <a:ext cx="9930581" cy="1119545"/>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What major seasonal patterns can be observed?</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2C449890-3BFC-198F-AAA8-33778C5924AD}"/>
              </a:ext>
            </a:extLst>
          </p:cNvPr>
          <p:cNvPicPr>
            <a:picLocks noGrp="1" noChangeAspect="1"/>
          </p:cNvPicPr>
          <p:nvPr>
            <p:ph idx="1"/>
          </p:nvPr>
        </p:nvPicPr>
        <p:blipFill>
          <a:blip r:embed="rId2"/>
          <a:stretch>
            <a:fillRect/>
          </a:stretch>
        </p:blipFill>
        <p:spPr>
          <a:xfrm>
            <a:off x="3062919" y="1188371"/>
            <a:ext cx="5092768" cy="5343576"/>
          </a:xfrm>
          <a:prstGeom prst="rect">
            <a:avLst/>
          </a:prstGeom>
        </p:spPr>
      </p:pic>
    </p:spTree>
    <p:extLst>
      <p:ext uri="{BB962C8B-B14F-4D97-AF65-F5344CB8AC3E}">
        <p14:creationId xmlns:p14="http://schemas.microsoft.com/office/powerpoint/2010/main" val="404572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1E71FC-D3AB-06AD-45AD-B0A17ECD1FA2}"/>
              </a:ext>
            </a:extLst>
          </p:cNvPr>
          <p:cNvPicPr>
            <a:picLocks noGrp="1" noChangeAspect="1"/>
          </p:cNvPicPr>
          <p:nvPr>
            <p:ph idx="1"/>
          </p:nvPr>
        </p:nvPicPr>
        <p:blipFill>
          <a:blip r:embed="rId2"/>
          <a:stretch>
            <a:fillRect/>
          </a:stretch>
        </p:blipFill>
        <p:spPr>
          <a:xfrm>
            <a:off x="2444956" y="262295"/>
            <a:ext cx="6836695" cy="5971645"/>
          </a:xfrm>
          <a:prstGeom prst="rect">
            <a:avLst/>
          </a:prstGeom>
        </p:spPr>
      </p:pic>
    </p:spTree>
    <p:extLst>
      <p:ext uri="{BB962C8B-B14F-4D97-AF65-F5344CB8AC3E}">
        <p14:creationId xmlns:p14="http://schemas.microsoft.com/office/powerpoint/2010/main" val="2992117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EA59880D-E084-9D9B-6682-09D32887ABE7}"/>
              </a:ext>
            </a:extLst>
          </p:cNvPr>
          <p:cNvPicPr>
            <a:picLocks noGrp="1" noChangeAspect="1"/>
          </p:cNvPicPr>
          <p:nvPr>
            <p:ph idx="1"/>
          </p:nvPr>
        </p:nvPicPr>
        <p:blipFill>
          <a:blip r:embed="rId2"/>
          <a:stretch>
            <a:fillRect/>
          </a:stretch>
        </p:blipFill>
        <p:spPr>
          <a:xfrm>
            <a:off x="1412681" y="652626"/>
            <a:ext cx="9366638" cy="4922264"/>
          </a:xfrm>
          <a:prstGeom prst="rect">
            <a:avLst/>
          </a:prstGeom>
        </p:spPr>
      </p:pic>
    </p:spTree>
    <p:extLst>
      <p:ext uri="{BB962C8B-B14F-4D97-AF65-F5344CB8AC3E}">
        <p14:creationId xmlns:p14="http://schemas.microsoft.com/office/powerpoint/2010/main" val="4271244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45DB0-C26B-6207-C183-DC63B2730177}"/>
              </a:ext>
            </a:extLst>
          </p:cNvPr>
          <p:cNvSpPr>
            <a:spLocks noGrp="1"/>
          </p:cNvSpPr>
          <p:nvPr>
            <p:ph type="title"/>
          </p:nvPr>
        </p:nvSpPr>
        <p:spPr>
          <a:xfrm>
            <a:off x="1071716" y="217642"/>
            <a:ext cx="9507794" cy="696758"/>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Which characteristics change between seasons?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D522DA60-1F16-E9D9-0D65-CE43D5DCB6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8827" y="1421990"/>
            <a:ext cx="4262179" cy="5126294"/>
          </a:xfrm>
          <a:prstGeom prst="rect">
            <a:avLst/>
          </a:prstGeom>
        </p:spPr>
      </p:pic>
    </p:spTree>
    <p:extLst>
      <p:ext uri="{BB962C8B-B14F-4D97-AF65-F5344CB8AC3E}">
        <p14:creationId xmlns:p14="http://schemas.microsoft.com/office/powerpoint/2010/main" val="1145812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11CBCC-CE77-1BCC-4EEF-5F420857E5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8394" y="304989"/>
            <a:ext cx="6335774" cy="6248021"/>
          </a:xfrm>
          <a:prstGeom prst="rect">
            <a:avLst/>
          </a:prstGeom>
        </p:spPr>
      </p:pic>
    </p:spTree>
    <p:extLst>
      <p:ext uri="{BB962C8B-B14F-4D97-AF65-F5344CB8AC3E}">
        <p14:creationId xmlns:p14="http://schemas.microsoft.com/office/powerpoint/2010/main" val="2936960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9A7D78-1C94-EC64-0580-D2008423DD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4299" y="353501"/>
            <a:ext cx="4556317" cy="6204615"/>
          </a:xfrm>
          <a:prstGeom prst="rect">
            <a:avLst/>
          </a:prstGeom>
        </p:spPr>
      </p:pic>
    </p:spTree>
    <p:extLst>
      <p:ext uri="{BB962C8B-B14F-4D97-AF65-F5344CB8AC3E}">
        <p14:creationId xmlns:p14="http://schemas.microsoft.com/office/powerpoint/2010/main" val="3748236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0B3BDE-1F36-FF9B-076A-6AE2EE1037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9334" y="1746631"/>
            <a:ext cx="10962340" cy="1281704"/>
          </a:xfrm>
          <a:prstGeom prst="rect">
            <a:avLst/>
          </a:prstGeom>
        </p:spPr>
      </p:pic>
    </p:spTree>
    <p:extLst>
      <p:ext uri="{BB962C8B-B14F-4D97-AF65-F5344CB8AC3E}">
        <p14:creationId xmlns:p14="http://schemas.microsoft.com/office/powerpoint/2010/main" val="1851340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4A607-312D-8270-D82C-FDEBD09E5D20}"/>
              </a:ext>
            </a:extLst>
          </p:cNvPr>
          <p:cNvSpPr>
            <a:spLocks noGrp="1"/>
          </p:cNvSpPr>
          <p:nvPr>
            <p:ph type="title"/>
          </p:nvPr>
        </p:nvSpPr>
        <p:spPr>
          <a:xfrm>
            <a:off x="245807" y="0"/>
            <a:ext cx="11946194" cy="707923"/>
          </a:xfrm>
        </p:spPr>
        <p:txBody>
          <a:bodyPr>
            <a:normAutofit/>
          </a:bodyPr>
          <a:lstStyle/>
          <a:p>
            <a:pPr algn="ctr"/>
            <a:r>
              <a:rPr lang="en-US" sz="3000" dirty="0">
                <a:latin typeface="Times New Roman" panose="02020603050405020304" pitchFamily="18" charset="0"/>
                <a:cs typeface="Times New Roman" panose="02020603050405020304" pitchFamily="18" charset="0"/>
              </a:rPr>
              <a:t>What differences exist between agricultural activities in different seasons?</a:t>
            </a:r>
            <a:endParaRPr lang="en-IN" sz="3000" dirty="0"/>
          </a:p>
        </p:txBody>
      </p:sp>
      <p:pic>
        <p:nvPicPr>
          <p:cNvPr id="5" name="Content Placeholder 4">
            <a:extLst>
              <a:ext uri="{FF2B5EF4-FFF2-40B4-BE49-F238E27FC236}">
                <a16:creationId xmlns:a16="http://schemas.microsoft.com/office/drawing/2014/main" id="{BFFBECBA-CFFD-BFBB-27B6-8B6B257C8E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6850" y="1415845"/>
            <a:ext cx="3817176" cy="5238854"/>
          </a:xfrm>
          <a:prstGeom prst="rect">
            <a:avLst/>
          </a:prstGeom>
        </p:spPr>
      </p:pic>
    </p:spTree>
    <p:extLst>
      <p:ext uri="{BB962C8B-B14F-4D97-AF65-F5344CB8AC3E}">
        <p14:creationId xmlns:p14="http://schemas.microsoft.com/office/powerpoint/2010/main" val="910248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2FA94E-2D54-1C65-4300-C67D10A99B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63157" y="576927"/>
            <a:ext cx="5603861" cy="5951692"/>
          </a:xfrm>
          <a:prstGeom prst="rect">
            <a:avLst/>
          </a:prstGeom>
        </p:spPr>
      </p:pic>
    </p:spTree>
    <p:extLst>
      <p:ext uri="{BB962C8B-B14F-4D97-AF65-F5344CB8AC3E}">
        <p14:creationId xmlns:p14="http://schemas.microsoft.com/office/powerpoint/2010/main" val="831088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864AA-A786-7499-9BE8-337890A5AA22}"/>
              </a:ext>
            </a:extLst>
          </p:cNvPr>
          <p:cNvSpPr>
            <a:spLocks noGrp="1"/>
          </p:cNvSpPr>
          <p:nvPr>
            <p:ph type="title"/>
          </p:nvPr>
        </p:nvSpPr>
        <p:spPr>
          <a:xfrm>
            <a:off x="596950" y="127819"/>
            <a:ext cx="11349244" cy="796413"/>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Are there noticeable variations in resource usage across seasons?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5B681150-D0E2-3947-F024-886C3CB1321C}"/>
              </a:ext>
            </a:extLst>
          </p:cNvPr>
          <p:cNvPicPr>
            <a:picLocks noGrp="1" noChangeAspect="1"/>
          </p:cNvPicPr>
          <p:nvPr>
            <p:ph idx="1"/>
          </p:nvPr>
        </p:nvPicPr>
        <p:blipFill>
          <a:blip r:embed="rId2"/>
          <a:stretch>
            <a:fillRect/>
          </a:stretch>
        </p:blipFill>
        <p:spPr>
          <a:xfrm>
            <a:off x="3753623" y="2005013"/>
            <a:ext cx="4379953" cy="4171950"/>
          </a:xfrm>
          <a:prstGeom prst="rect">
            <a:avLst/>
          </a:prstGeom>
        </p:spPr>
      </p:pic>
    </p:spTree>
    <p:extLst>
      <p:ext uri="{BB962C8B-B14F-4D97-AF65-F5344CB8AC3E}">
        <p14:creationId xmlns:p14="http://schemas.microsoft.com/office/powerpoint/2010/main" val="2911006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59A980-2F81-1029-4611-7284549C8C21}"/>
              </a:ext>
            </a:extLst>
          </p:cNvPr>
          <p:cNvPicPr>
            <a:picLocks noGrp="1" noChangeAspect="1"/>
          </p:cNvPicPr>
          <p:nvPr>
            <p:ph idx="1"/>
          </p:nvPr>
        </p:nvPicPr>
        <p:blipFill>
          <a:blip r:embed="rId2"/>
          <a:stretch>
            <a:fillRect/>
          </a:stretch>
        </p:blipFill>
        <p:spPr>
          <a:xfrm>
            <a:off x="1069506" y="644527"/>
            <a:ext cx="9854131" cy="4512015"/>
          </a:xfrm>
          <a:prstGeom prst="rect">
            <a:avLst/>
          </a:prstGeom>
        </p:spPr>
      </p:pic>
    </p:spTree>
    <p:extLst>
      <p:ext uri="{BB962C8B-B14F-4D97-AF65-F5344CB8AC3E}">
        <p14:creationId xmlns:p14="http://schemas.microsoft.com/office/powerpoint/2010/main" val="1354333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CD3EDF-96B6-8E2F-420A-16BDED16B8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50483" y="355730"/>
            <a:ext cx="5487040" cy="5949894"/>
          </a:xfrm>
          <a:prstGeom prst="rect">
            <a:avLst/>
          </a:prstGeom>
        </p:spPr>
      </p:pic>
    </p:spTree>
    <p:extLst>
      <p:ext uri="{BB962C8B-B14F-4D97-AF65-F5344CB8AC3E}">
        <p14:creationId xmlns:p14="http://schemas.microsoft.com/office/powerpoint/2010/main" val="2316850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B4D2CF-5F1F-F17B-7065-216B68E29E3F}"/>
              </a:ext>
            </a:extLst>
          </p:cNvPr>
          <p:cNvPicPr>
            <a:picLocks noGrp="1" noChangeAspect="1"/>
          </p:cNvPicPr>
          <p:nvPr>
            <p:ph idx="1"/>
          </p:nvPr>
        </p:nvPicPr>
        <p:blipFill>
          <a:blip r:embed="rId2"/>
          <a:stretch>
            <a:fillRect/>
          </a:stretch>
        </p:blipFill>
        <p:spPr>
          <a:xfrm>
            <a:off x="2329264" y="360618"/>
            <a:ext cx="7129369" cy="5950881"/>
          </a:xfrm>
          <a:prstGeom prst="rect">
            <a:avLst/>
          </a:prstGeom>
        </p:spPr>
      </p:pic>
    </p:spTree>
    <p:extLst>
      <p:ext uri="{BB962C8B-B14F-4D97-AF65-F5344CB8AC3E}">
        <p14:creationId xmlns:p14="http://schemas.microsoft.com/office/powerpoint/2010/main" val="1979343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F5FF-FCB3-1B3D-0DC2-C2D01542A01D}"/>
              </a:ext>
            </a:extLst>
          </p:cNvPr>
          <p:cNvSpPr>
            <a:spLocks noGrp="1"/>
          </p:cNvSpPr>
          <p:nvPr>
            <p:ph type="title"/>
          </p:nvPr>
        </p:nvSpPr>
        <p:spPr>
          <a:xfrm>
            <a:off x="208936" y="148816"/>
            <a:ext cx="11756922" cy="1031056"/>
          </a:xfrm>
        </p:spPr>
        <p:txBody>
          <a:bodyPr>
            <a:normAutofit fontScale="90000"/>
          </a:bodyPr>
          <a:lstStyle/>
          <a:p>
            <a:pPr algn="ctr"/>
            <a:br>
              <a:rPr lang="en-US" sz="33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Are there relationships between seasonal environmental conditions and </a:t>
            </a:r>
            <a:r>
              <a:rPr lang="en-IN" sz="3300" dirty="0">
                <a:latin typeface="Times New Roman" panose="02020603050405020304" pitchFamily="18" charset="0"/>
                <a:cs typeface="Times New Roman" panose="02020603050405020304" pitchFamily="18" charset="0"/>
              </a:rPr>
              <a:t>agricultural performance?</a:t>
            </a:r>
            <a:br>
              <a:rPr lang="en-IN"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ABF0FC45-D676-AF70-A2D8-19F827AC036F}"/>
              </a:ext>
            </a:extLst>
          </p:cNvPr>
          <p:cNvPicPr>
            <a:picLocks noGrp="1" noChangeAspect="1"/>
          </p:cNvPicPr>
          <p:nvPr>
            <p:ph idx="1"/>
          </p:nvPr>
        </p:nvPicPr>
        <p:blipFill>
          <a:blip r:embed="rId2"/>
          <a:stretch>
            <a:fillRect/>
          </a:stretch>
        </p:blipFill>
        <p:spPr>
          <a:xfrm>
            <a:off x="4034023" y="2005013"/>
            <a:ext cx="3819153" cy="4171950"/>
          </a:xfrm>
          <a:prstGeom prst="rect">
            <a:avLst/>
          </a:prstGeom>
        </p:spPr>
      </p:pic>
    </p:spTree>
    <p:extLst>
      <p:ext uri="{BB962C8B-B14F-4D97-AF65-F5344CB8AC3E}">
        <p14:creationId xmlns:p14="http://schemas.microsoft.com/office/powerpoint/2010/main" val="3900710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3C042D-29AC-39AE-56DE-474A9DDE8EEB}"/>
              </a:ext>
            </a:extLst>
          </p:cNvPr>
          <p:cNvPicPr>
            <a:picLocks noGrp="1" noChangeAspect="1"/>
          </p:cNvPicPr>
          <p:nvPr>
            <p:ph idx="1"/>
          </p:nvPr>
        </p:nvPicPr>
        <p:blipFill>
          <a:blip r:embed="rId2"/>
          <a:stretch>
            <a:fillRect/>
          </a:stretch>
        </p:blipFill>
        <p:spPr>
          <a:xfrm>
            <a:off x="2698663" y="449107"/>
            <a:ext cx="6474834" cy="5811645"/>
          </a:xfrm>
          <a:prstGeom prst="rect">
            <a:avLst/>
          </a:prstGeom>
        </p:spPr>
      </p:pic>
    </p:spTree>
    <p:extLst>
      <p:ext uri="{BB962C8B-B14F-4D97-AF65-F5344CB8AC3E}">
        <p14:creationId xmlns:p14="http://schemas.microsoft.com/office/powerpoint/2010/main" val="120898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A970D7-524A-FE1F-E9D9-5F54174CD965}"/>
              </a:ext>
            </a:extLst>
          </p:cNvPr>
          <p:cNvPicPr>
            <a:picLocks noGrp="1" noChangeAspect="1"/>
          </p:cNvPicPr>
          <p:nvPr>
            <p:ph idx="1"/>
          </p:nvPr>
        </p:nvPicPr>
        <p:blipFill>
          <a:blip r:embed="rId2"/>
          <a:stretch>
            <a:fillRect/>
          </a:stretch>
        </p:blipFill>
        <p:spPr>
          <a:xfrm>
            <a:off x="2833128" y="443066"/>
            <a:ext cx="6242046" cy="6225222"/>
          </a:xfrm>
          <a:prstGeom prst="rect">
            <a:avLst/>
          </a:prstGeom>
        </p:spPr>
      </p:pic>
    </p:spTree>
    <p:extLst>
      <p:ext uri="{BB962C8B-B14F-4D97-AF65-F5344CB8AC3E}">
        <p14:creationId xmlns:p14="http://schemas.microsoft.com/office/powerpoint/2010/main" val="1579802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5EBC48-C1FA-9CB4-2F84-0F7F59BC55C6}"/>
              </a:ext>
            </a:extLst>
          </p:cNvPr>
          <p:cNvPicPr>
            <a:picLocks noGrp="1" noChangeAspect="1"/>
          </p:cNvPicPr>
          <p:nvPr>
            <p:ph idx="1"/>
          </p:nvPr>
        </p:nvPicPr>
        <p:blipFill>
          <a:blip r:embed="rId2"/>
          <a:stretch>
            <a:fillRect/>
          </a:stretch>
        </p:blipFill>
        <p:spPr>
          <a:xfrm>
            <a:off x="2886579" y="163973"/>
            <a:ext cx="6227923" cy="6338529"/>
          </a:xfrm>
          <a:prstGeom prst="rect">
            <a:avLst/>
          </a:prstGeom>
        </p:spPr>
      </p:pic>
    </p:spTree>
    <p:extLst>
      <p:ext uri="{BB962C8B-B14F-4D97-AF65-F5344CB8AC3E}">
        <p14:creationId xmlns:p14="http://schemas.microsoft.com/office/powerpoint/2010/main" val="2905634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2E3509-247C-B79C-E8E6-55F6B6979E04}"/>
              </a:ext>
            </a:extLst>
          </p:cNvPr>
          <p:cNvPicPr>
            <a:picLocks noGrp="1" noChangeAspect="1"/>
          </p:cNvPicPr>
          <p:nvPr>
            <p:ph idx="1"/>
          </p:nvPr>
        </p:nvPicPr>
        <p:blipFill>
          <a:blip r:embed="rId2"/>
          <a:stretch>
            <a:fillRect/>
          </a:stretch>
        </p:blipFill>
        <p:spPr>
          <a:xfrm>
            <a:off x="2843611" y="272127"/>
            <a:ext cx="6025086" cy="6065962"/>
          </a:xfrm>
          <a:prstGeom prst="rect">
            <a:avLst/>
          </a:prstGeom>
        </p:spPr>
      </p:pic>
    </p:spTree>
    <p:extLst>
      <p:ext uri="{BB962C8B-B14F-4D97-AF65-F5344CB8AC3E}">
        <p14:creationId xmlns:p14="http://schemas.microsoft.com/office/powerpoint/2010/main" val="1366808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C1DDDFE-BE09-E8E7-287B-4DFC9EEBA905}"/>
              </a:ext>
            </a:extLst>
          </p:cNvPr>
          <p:cNvPicPr>
            <a:picLocks noGrp="1" noChangeAspect="1"/>
          </p:cNvPicPr>
          <p:nvPr>
            <p:ph idx="1"/>
          </p:nvPr>
        </p:nvPicPr>
        <p:blipFill>
          <a:blip r:embed="rId2"/>
          <a:stretch>
            <a:fillRect/>
          </a:stretch>
        </p:blipFill>
        <p:spPr>
          <a:xfrm>
            <a:off x="1812948" y="560219"/>
            <a:ext cx="8560084" cy="5424096"/>
          </a:xfrm>
          <a:prstGeom prst="rect">
            <a:avLst/>
          </a:prstGeom>
        </p:spPr>
      </p:pic>
    </p:spTree>
    <p:extLst>
      <p:ext uri="{BB962C8B-B14F-4D97-AF65-F5344CB8AC3E}">
        <p14:creationId xmlns:p14="http://schemas.microsoft.com/office/powerpoint/2010/main" val="1790531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F1335-BC19-B9E3-BE48-07A9B6838349}"/>
              </a:ext>
            </a:extLst>
          </p:cNvPr>
          <p:cNvSpPr>
            <a:spLocks noGrp="1"/>
          </p:cNvSpPr>
          <p:nvPr>
            <p:ph type="title"/>
          </p:nvPr>
        </p:nvSpPr>
        <p:spPr>
          <a:xfrm>
            <a:off x="838200" y="0"/>
            <a:ext cx="9564329" cy="914400"/>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3300" dirty="0">
                <a:latin typeface="Times New Roman" panose="02020603050405020304" pitchFamily="18" charset="0"/>
                <a:cs typeface="Times New Roman" panose="02020603050405020304" pitchFamily="18" charset="0"/>
              </a:rPr>
              <a:t>How do economic outcomes vary across seasons?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F2678D02-3162-DC0F-BFDD-1B156210AAEE}"/>
              </a:ext>
            </a:extLst>
          </p:cNvPr>
          <p:cNvPicPr>
            <a:picLocks noGrp="1" noChangeAspect="1"/>
          </p:cNvPicPr>
          <p:nvPr>
            <p:ph idx="1"/>
          </p:nvPr>
        </p:nvPicPr>
        <p:blipFill>
          <a:blip r:embed="rId2"/>
          <a:stretch>
            <a:fillRect/>
          </a:stretch>
        </p:blipFill>
        <p:spPr>
          <a:xfrm>
            <a:off x="3359892" y="1648644"/>
            <a:ext cx="4987695" cy="4987695"/>
          </a:xfrm>
          <a:prstGeom prst="rect">
            <a:avLst/>
          </a:prstGeom>
        </p:spPr>
      </p:pic>
    </p:spTree>
    <p:extLst>
      <p:ext uri="{BB962C8B-B14F-4D97-AF65-F5344CB8AC3E}">
        <p14:creationId xmlns:p14="http://schemas.microsoft.com/office/powerpoint/2010/main" val="3857266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9E770D-7C9F-9B06-215C-974538FB4D6D}"/>
              </a:ext>
            </a:extLst>
          </p:cNvPr>
          <p:cNvPicPr>
            <a:picLocks noGrp="1" noChangeAspect="1"/>
          </p:cNvPicPr>
          <p:nvPr>
            <p:ph idx="1"/>
          </p:nvPr>
        </p:nvPicPr>
        <p:blipFill>
          <a:blip r:embed="rId2"/>
          <a:stretch>
            <a:fillRect/>
          </a:stretch>
        </p:blipFill>
        <p:spPr>
          <a:xfrm>
            <a:off x="1361276" y="1024493"/>
            <a:ext cx="9731203" cy="3409856"/>
          </a:xfrm>
          <a:prstGeom prst="rect">
            <a:avLst/>
          </a:prstGeom>
        </p:spPr>
      </p:pic>
    </p:spTree>
    <p:extLst>
      <p:ext uri="{BB962C8B-B14F-4D97-AF65-F5344CB8AC3E}">
        <p14:creationId xmlns:p14="http://schemas.microsoft.com/office/powerpoint/2010/main" val="3831089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F63A4D3-4D53-F64E-0849-DA12DA0C2C4A}"/>
              </a:ext>
            </a:extLst>
          </p:cNvPr>
          <p:cNvPicPr>
            <a:picLocks noGrp="1" noChangeAspect="1"/>
          </p:cNvPicPr>
          <p:nvPr>
            <p:ph idx="1"/>
          </p:nvPr>
        </p:nvPicPr>
        <p:blipFill>
          <a:blip r:embed="rId2"/>
          <a:stretch>
            <a:fillRect/>
          </a:stretch>
        </p:blipFill>
        <p:spPr>
          <a:xfrm>
            <a:off x="2926078" y="422941"/>
            <a:ext cx="5834463" cy="6128172"/>
          </a:xfrm>
          <a:prstGeom prst="rect">
            <a:avLst/>
          </a:prstGeom>
        </p:spPr>
      </p:pic>
    </p:spTree>
    <p:extLst>
      <p:ext uri="{BB962C8B-B14F-4D97-AF65-F5344CB8AC3E}">
        <p14:creationId xmlns:p14="http://schemas.microsoft.com/office/powerpoint/2010/main" val="2580878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AD42F-0A35-5852-03DD-7DEC83861361}"/>
              </a:ext>
            </a:extLst>
          </p:cNvPr>
          <p:cNvSpPr>
            <a:spLocks noGrp="1"/>
          </p:cNvSpPr>
          <p:nvPr>
            <p:ph type="title"/>
          </p:nvPr>
        </p:nvSpPr>
        <p:spPr>
          <a:xfrm>
            <a:off x="216310" y="0"/>
            <a:ext cx="11788877" cy="1199535"/>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Are some seasonal patterns consistent across different regions or categories?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49168808-E287-44E3-8812-7038FE94F4A4}"/>
              </a:ext>
            </a:extLst>
          </p:cNvPr>
          <p:cNvPicPr>
            <a:picLocks noGrp="1" noChangeAspect="1"/>
          </p:cNvPicPr>
          <p:nvPr>
            <p:ph idx="1"/>
          </p:nvPr>
        </p:nvPicPr>
        <p:blipFill>
          <a:blip r:embed="rId2"/>
          <a:stretch>
            <a:fillRect/>
          </a:stretch>
        </p:blipFill>
        <p:spPr>
          <a:xfrm>
            <a:off x="3912519" y="2005013"/>
            <a:ext cx="4062161" cy="4171950"/>
          </a:xfrm>
          <a:prstGeom prst="rect">
            <a:avLst/>
          </a:prstGeom>
        </p:spPr>
      </p:pic>
    </p:spTree>
    <p:extLst>
      <p:ext uri="{BB962C8B-B14F-4D97-AF65-F5344CB8AC3E}">
        <p14:creationId xmlns:p14="http://schemas.microsoft.com/office/powerpoint/2010/main" val="1959878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F9C4F1-3DB6-09A5-462A-6E41E9FCF9CC}"/>
              </a:ext>
            </a:extLst>
          </p:cNvPr>
          <p:cNvPicPr>
            <a:picLocks noGrp="1" noChangeAspect="1"/>
          </p:cNvPicPr>
          <p:nvPr>
            <p:ph idx="1"/>
          </p:nvPr>
        </p:nvPicPr>
        <p:blipFill>
          <a:blip r:embed="rId2"/>
          <a:stretch>
            <a:fillRect/>
          </a:stretch>
        </p:blipFill>
        <p:spPr>
          <a:xfrm>
            <a:off x="1093594" y="1100127"/>
            <a:ext cx="9693692" cy="2842609"/>
          </a:xfrm>
          <a:prstGeom prst="rect">
            <a:avLst/>
          </a:prstGeom>
        </p:spPr>
      </p:pic>
    </p:spTree>
    <p:extLst>
      <p:ext uri="{BB962C8B-B14F-4D97-AF65-F5344CB8AC3E}">
        <p14:creationId xmlns:p14="http://schemas.microsoft.com/office/powerpoint/2010/main" val="2454871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09F4A33-6266-5D25-5C3C-9A377170BC22}"/>
              </a:ext>
            </a:extLst>
          </p:cNvPr>
          <p:cNvPicPr>
            <a:picLocks noGrp="1" noChangeAspect="1"/>
          </p:cNvPicPr>
          <p:nvPr>
            <p:ph idx="1"/>
          </p:nvPr>
        </p:nvPicPr>
        <p:blipFill>
          <a:blip r:embed="rId2"/>
          <a:stretch>
            <a:fillRect/>
          </a:stretch>
        </p:blipFill>
        <p:spPr>
          <a:xfrm>
            <a:off x="2599776" y="323227"/>
            <a:ext cx="6809694" cy="6211546"/>
          </a:xfrm>
          <a:prstGeom prst="rect">
            <a:avLst/>
          </a:prstGeom>
        </p:spPr>
      </p:pic>
    </p:spTree>
    <p:extLst>
      <p:ext uri="{BB962C8B-B14F-4D97-AF65-F5344CB8AC3E}">
        <p14:creationId xmlns:p14="http://schemas.microsoft.com/office/powerpoint/2010/main" val="16687266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0266AC0-6178-C707-A3CE-7BEB84D4AC1F}"/>
              </a:ext>
            </a:extLst>
          </p:cNvPr>
          <p:cNvPicPr>
            <a:picLocks noGrp="1" noChangeAspect="1"/>
          </p:cNvPicPr>
          <p:nvPr>
            <p:ph idx="1"/>
          </p:nvPr>
        </p:nvPicPr>
        <p:blipFill>
          <a:blip r:embed="rId2"/>
          <a:stretch>
            <a:fillRect/>
          </a:stretch>
        </p:blipFill>
        <p:spPr>
          <a:xfrm>
            <a:off x="3030920" y="428172"/>
            <a:ext cx="6191738" cy="5978817"/>
          </a:xfrm>
          <a:prstGeom prst="rect">
            <a:avLst/>
          </a:prstGeom>
        </p:spPr>
      </p:pic>
    </p:spTree>
    <p:extLst>
      <p:ext uri="{BB962C8B-B14F-4D97-AF65-F5344CB8AC3E}">
        <p14:creationId xmlns:p14="http://schemas.microsoft.com/office/powerpoint/2010/main" val="1507712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7B8EE8-559C-0DE4-736E-2765204252FA}"/>
              </a:ext>
            </a:extLst>
          </p:cNvPr>
          <p:cNvPicPr>
            <a:picLocks noGrp="1" noChangeAspect="1"/>
          </p:cNvPicPr>
          <p:nvPr>
            <p:ph idx="1"/>
          </p:nvPr>
        </p:nvPicPr>
        <p:blipFill>
          <a:blip r:embed="rId2"/>
          <a:stretch>
            <a:fillRect/>
          </a:stretch>
        </p:blipFill>
        <p:spPr>
          <a:xfrm>
            <a:off x="2686793" y="543639"/>
            <a:ext cx="6641496" cy="5709677"/>
          </a:xfrm>
          <a:prstGeom prst="rect">
            <a:avLst/>
          </a:prstGeom>
        </p:spPr>
      </p:pic>
    </p:spTree>
    <p:extLst>
      <p:ext uri="{BB962C8B-B14F-4D97-AF65-F5344CB8AC3E}">
        <p14:creationId xmlns:p14="http://schemas.microsoft.com/office/powerpoint/2010/main" val="2230498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A2FA95-5791-D047-D7B1-B027A4C83DBD}"/>
              </a:ext>
            </a:extLst>
          </p:cNvPr>
          <p:cNvPicPr>
            <a:picLocks noGrp="1" noChangeAspect="1"/>
          </p:cNvPicPr>
          <p:nvPr>
            <p:ph idx="1"/>
          </p:nvPr>
        </p:nvPicPr>
        <p:blipFill>
          <a:blip r:embed="rId2"/>
          <a:stretch>
            <a:fillRect/>
          </a:stretch>
        </p:blipFill>
        <p:spPr>
          <a:xfrm>
            <a:off x="2376703" y="461582"/>
            <a:ext cx="7438594" cy="5934835"/>
          </a:xfrm>
          <a:prstGeom prst="rect">
            <a:avLst/>
          </a:prstGeom>
        </p:spPr>
      </p:pic>
    </p:spTree>
    <p:extLst>
      <p:ext uri="{BB962C8B-B14F-4D97-AF65-F5344CB8AC3E}">
        <p14:creationId xmlns:p14="http://schemas.microsoft.com/office/powerpoint/2010/main" val="2759604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C11EF-0D17-FBC7-0010-0AA56E64285B}"/>
              </a:ext>
            </a:extLst>
          </p:cNvPr>
          <p:cNvSpPr>
            <a:spLocks noGrp="1"/>
          </p:cNvSpPr>
          <p:nvPr>
            <p:ph type="title"/>
          </p:nvPr>
        </p:nvSpPr>
        <p:spPr>
          <a:xfrm>
            <a:off x="646111" y="167148"/>
            <a:ext cx="9776083" cy="855407"/>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Are there unusual or unexpected seasonal patterns?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31D37BA7-8E58-0C7B-A910-F72D6961B750}"/>
              </a:ext>
            </a:extLst>
          </p:cNvPr>
          <p:cNvPicPr>
            <a:picLocks noGrp="1" noChangeAspect="1"/>
          </p:cNvPicPr>
          <p:nvPr>
            <p:ph idx="1"/>
          </p:nvPr>
        </p:nvPicPr>
        <p:blipFill>
          <a:blip r:embed="rId2"/>
          <a:stretch>
            <a:fillRect/>
          </a:stretch>
        </p:blipFill>
        <p:spPr>
          <a:xfrm>
            <a:off x="3076780" y="921545"/>
            <a:ext cx="5791917" cy="5909959"/>
          </a:xfrm>
          <a:prstGeom prst="rect">
            <a:avLst/>
          </a:prstGeom>
        </p:spPr>
      </p:pic>
    </p:spTree>
    <p:extLst>
      <p:ext uri="{BB962C8B-B14F-4D97-AF65-F5344CB8AC3E}">
        <p14:creationId xmlns:p14="http://schemas.microsoft.com/office/powerpoint/2010/main" val="3402530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14F322-3D7C-35A0-F3CA-E006B359444D}"/>
              </a:ext>
            </a:extLst>
          </p:cNvPr>
          <p:cNvPicPr>
            <a:picLocks noGrp="1" noChangeAspect="1"/>
          </p:cNvPicPr>
          <p:nvPr>
            <p:ph idx="1"/>
          </p:nvPr>
        </p:nvPicPr>
        <p:blipFill>
          <a:blip r:embed="rId2"/>
          <a:stretch>
            <a:fillRect/>
          </a:stretch>
        </p:blipFill>
        <p:spPr>
          <a:xfrm>
            <a:off x="1432193" y="230596"/>
            <a:ext cx="9327613" cy="6396808"/>
          </a:xfrm>
          <a:prstGeom prst="rect">
            <a:avLst/>
          </a:prstGeom>
        </p:spPr>
      </p:pic>
    </p:spTree>
    <p:extLst>
      <p:ext uri="{BB962C8B-B14F-4D97-AF65-F5344CB8AC3E}">
        <p14:creationId xmlns:p14="http://schemas.microsoft.com/office/powerpoint/2010/main" val="3187026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5A0F9A-659E-B56C-C978-52582B66AD29}"/>
              </a:ext>
            </a:extLst>
          </p:cNvPr>
          <p:cNvPicPr>
            <a:picLocks noGrp="1" noChangeAspect="1"/>
          </p:cNvPicPr>
          <p:nvPr>
            <p:ph idx="1"/>
          </p:nvPr>
        </p:nvPicPr>
        <p:blipFill>
          <a:blip r:embed="rId2"/>
          <a:stretch>
            <a:fillRect/>
          </a:stretch>
        </p:blipFill>
        <p:spPr>
          <a:xfrm>
            <a:off x="2170573" y="252462"/>
            <a:ext cx="6875103" cy="6494699"/>
          </a:xfrm>
          <a:prstGeom prst="rect">
            <a:avLst/>
          </a:prstGeom>
        </p:spPr>
      </p:pic>
    </p:spTree>
    <p:extLst>
      <p:ext uri="{BB962C8B-B14F-4D97-AF65-F5344CB8AC3E}">
        <p14:creationId xmlns:p14="http://schemas.microsoft.com/office/powerpoint/2010/main" val="29854757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CAC4CE-D2E0-69BF-6270-F670BA51037A}"/>
              </a:ext>
            </a:extLst>
          </p:cNvPr>
          <p:cNvPicPr>
            <a:picLocks noGrp="1" noChangeAspect="1"/>
          </p:cNvPicPr>
          <p:nvPr>
            <p:ph idx="1"/>
          </p:nvPr>
        </p:nvPicPr>
        <p:blipFill>
          <a:blip r:embed="rId2"/>
          <a:stretch>
            <a:fillRect/>
          </a:stretch>
        </p:blipFill>
        <p:spPr>
          <a:xfrm>
            <a:off x="1384139" y="1120180"/>
            <a:ext cx="8792188" cy="3727123"/>
          </a:xfrm>
          <a:prstGeom prst="rect">
            <a:avLst/>
          </a:prstGeom>
        </p:spPr>
      </p:pic>
    </p:spTree>
    <p:extLst>
      <p:ext uri="{BB962C8B-B14F-4D97-AF65-F5344CB8AC3E}">
        <p14:creationId xmlns:p14="http://schemas.microsoft.com/office/powerpoint/2010/main" val="12970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A241-3DAA-3BFB-2EEA-A1861ACE41F3}"/>
              </a:ext>
            </a:extLst>
          </p:cNvPr>
          <p:cNvSpPr>
            <a:spLocks noGrp="1"/>
          </p:cNvSpPr>
          <p:nvPr>
            <p:ph type="title"/>
          </p:nvPr>
        </p:nvSpPr>
        <p:spPr>
          <a:xfrm>
            <a:off x="487864" y="142385"/>
            <a:ext cx="11261683" cy="821176"/>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What insights can be derived from the observed seasonal differences?</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2CF78635-3775-CC94-BB02-CFC50C413E01}"/>
              </a:ext>
            </a:extLst>
          </p:cNvPr>
          <p:cNvPicPr>
            <a:picLocks noGrp="1" noChangeAspect="1"/>
          </p:cNvPicPr>
          <p:nvPr>
            <p:ph idx="1"/>
          </p:nvPr>
        </p:nvPicPr>
        <p:blipFill>
          <a:blip r:embed="rId2"/>
          <a:stretch>
            <a:fillRect/>
          </a:stretch>
        </p:blipFill>
        <p:spPr>
          <a:xfrm>
            <a:off x="3036433" y="921773"/>
            <a:ext cx="5379980" cy="5716229"/>
          </a:xfrm>
          <a:prstGeom prst="rect">
            <a:avLst/>
          </a:prstGeom>
        </p:spPr>
      </p:pic>
    </p:spTree>
    <p:extLst>
      <p:ext uri="{BB962C8B-B14F-4D97-AF65-F5344CB8AC3E}">
        <p14:creationId xmlns:p14="http://schemas.microsoft.com/office/powerpoint/2010/main" val="998105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DC9B77-7C2D-1CC1-FA6C-2E79F9BCC6CC}"/>
              </a:ext>
            </a:extLst>
          </p:cNvPr>
          <p:cNvPicPr>
            <a:picLocks noGrp="1" noChangeAspect="1"/>
          </p:cNvPicPr>
          <p:nvPr>
            <p:ph idx="1"/>
          </p:nvPr>
        </p:nvPicPr>
        <p:blipFill>
          <a:blip r:embed="rId2"/>
          <a:stretch>
            <a:fillRect/>
          </a:stretch>
        </p:blipFill>
        <p:spPr>
          <a:xfrm>
            <a:off x="1901130" y="663026"/>
            <a:ext cx="8389739" cy="5531948"/>
          </a:xfrm>
          <a:prstGeom prst="rect">
            <a:avLst/>
          </a:prstGeom>
        </p:spPr>
      </p:pic>
    </p:spTree>
    <p:extLst>
      <p:ext uri="{BB962C8B-B14F-4D97-AF65-F5344CB8AC3E}">
        <p14:creationId xmlns:p14="http://schemas.microsoft.com/office/powerpoint/2010/main" val="11626299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CFC63D-2A1C-6870-7775-EC7A8C50C44C}"/>
              </a:ext>
            </a:extLst>
          </p:cNvPr>
          <p:cNvPicPr>
            <a:picLocks noGrp="1" noChangeAspect="1"/>
          </p:cNvPicPr>
          <p:nvPr>
            <p:ph idx="1"/>
          </p:nvPr>
        </p:nvPicPr>
        <p:blipFill>
          <a:blip r:embed="rId2"/>
          <a:stretch>
            <a:fillRect/>
          </a:stretch>
        </p:blipFill>
        <p:spPr>
          <a:xfrm>
            <a:off x="1774232" y="552739"/>
            <a:ext cx="8038362" cy="5752521"/>
          </a:xfrm>
          <a:prstGeom prst="rect">
            <a:avLst/>
          </a:prstGeom>
        </p:spPr>
      </p:pic>
    </p:spTree>
    <p:extLst>
      <p:ext uri="{BB962C8B-B14F-4D97-AF65-F5344CB8AC3E}">
        <p14:creationId xmlns:p14="http://schemas.microsoft.com/office/powerpoint/2010/main" val="635198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D7BBE-F9FE-B3C1-92BC-6527AA52FD1E}"/>
              </a:ext>
            </a:extLst>
          </p:cNvPr>
          <p:cNvSpPr>
            <a:spLocks noGrp="1"/>
          </p:cNvSpPr>
          <p:nvPr>
            <p:ph type="title"/>
          </p:nvPr>
        </p:nvSpPr>
        <p:spPr>
          <a:xfrm>
            <a:off x="725476" y="167581"/>
            <a:ext cx="9404723" cy="1612057"/>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What conclusions can reasonably be drawn from the available data?</a:t>
            </a:r>
            <a:br>
              <a:rPr lang="en-US"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CB05D742-CF24-0CCA-438B-20538A6C6395}"/>
              </a:ext>
            </a:extLst>
          </p:cNvPr>
          <p:cNvPicPr>
            <a:picLocks noGrp="1" noChangeAspect="1"/>
          </p:cNvPicPr>
          <p:nvPr>
            <p:ph idx="1"/>
          </p:nvPr>
        </p:nvPicPr>
        <p:blipFill>
          <a:blip r:embed="rId2"/>
          <a:stretch>
            <a:fillRect/>
          </a:stretch>
        </p:blipFill>
        <p:spPr>
          <a:xfrm>
            <a:off x="3137354" y="1734157"/>
            <a:ext cx="4738284" cy="5091888"/>
          </a:xfrm>
          <a:prstGeom prst="rect">
            <a:avLst/>
          </a:prstGeom>
        </p:spPr>
      </p:pic>
    </p:spTree>
    <p:extLst>
      <p:ext uri="{BB962C8B-B14F-4D97-AF65-F5344CB8AC3E}">
        <p14:creationId xmlns:p14="http://schemas.microsoft.com/office/powerpoint/2010/main" val="397976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9BCBE4-91D0-E078-4DC0-4ED51DE0F4A8}"/>
              </a:ext>
            </a:extLst>
          </p:cNvPr>
          <p:cNvPicPr>
            <a:picLocks noGrp="1" noChangeAspect="1"/>
          </p:cNvPicPr>
          <p:nvPr>
            <p:ph idx="1"/>
          </p:nvPr>
        </p:nvPicPr>
        <p:blipFill>
          <a:blip r:embed="rId2"/>
          <a:stretch>
            <a:fillRect/>
          </a:stretch>
        </p:blipFill>
        <p:spPr>
          <a:xfrm>
            <a:off x="1950599" y="636268"/>
            <a:ext cx="8491259" cy="5080929"/>
          </a:xfrm>
          <a:prstGeom prst="rect">
            <a:avLst/>
          </a:prstGeom>
        </p:spPr>
      </p:pic>
    </p:spTree>
    <p:extLst>
      <p:ext uri="{BB962C8B-B14F-4D97-AF65-F5344CB8AC3E}">
        <p14:creationId xmlns:p14="http://schemas.microsoft.com/office/powerpoint/2010/main" val="9219731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214616-830A-D4E6-DC8F-FA2A4B1410BB}"/>
              </a:ext>
            </a:extLst>
          </p:cNvPr>
          <p:cNvPicPr>
            <a:picLocks noGrp="1" noChangeAspect="1"/>
          </p:cNvPicPr>
          <p:nvPr>
            <p:ph idx="1"/>
          </p:nvPr>
        </p:nvPicPr>
        <p:blipFill>
          <a:blip r:embed="rId2"/>
          <a:stretch>
            <a:fillRect/>
          </a:stretch>
        </p:blipFill>
        <p:spPr>
          <a:xfrm>
            <a:off x="1173239" y="699771"/>
            <a:ext cx="8529634" cy="4835790"/>
          </a:xfrm>
          <a:prstGeom prst="rect">
            <a:avLst/>
          </a:prstGeom>
        </p:spPr>
      </p:pic>
    </p:spTree>
    <p:extLst>
      <p:ext uri="{BB962C8B-B14F-4D97-AF65-F5344CB8AC3E}">
        <p14:creationId xmlns:p14="http://schemas.microsoft.com/office/powerpoint/2010/main" val="1935719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D87C7-AB11-AC5F-8B3A-8FFD21079AA0}"/>
              </a:ext>
            </a:extLst>
          </p:cNvPr>
          <p:cNvSpPr>
            <a:spLocks noGrp="1"/>
          </p:cNvSpPr>
          <p:nvPr>
            <p:ph type="title"/>
          </p:nvPr>
        </p:nvSpPr>
        <p:spPr>
          <a:xfrm>
            <a:off x="294969" y="119319"/>
            <a:ext cx="11631560" cy="755752"/>
          </a:xfrm>
        </p:spPr>
        <p:txBody>
          <a:bodyPr>
            <a:normAutofit fontScale="90000"/>
          </a:bodyPr>
          <a:lstStyle/>
          <a:p>
            <a:pPr algn="ctr"/>
            <a:r>
              <a:rPr lang="en-US" sz="3300" dirty="0">
                <a:latin typeface="Times New Roman" panose="02020603050405020304" pitchFamily="18" charset="0"/>
                <a:cs typeface="Times New Roman" panose="02020603050405020304" pitchFamily="18" charset="0"/>
              </a:rPr>
              <a:t>How could the findings support better seasonal agricultural planning?</a:t>
            </a:r>
            <a:br>
              <a:rPr lang="en-IN"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A457D122-CAC1-0B07-F430-C3448C75F8EB}"/>
              </a:ext>
            </a:extLst>
          </p:cNvPr>
          <p:cNvPicPr>
            <a:picLocks noGrp="1" noChangeAspect="1"/>
          </p:cNvPicPr>
          <p:nvPr>
            <p:ph idx="1"/>
          </p:nvPr>
        </p:nvPicPr>
        <p:blipFill>
          <a:blip r:embed="rId2"/>
          <a:stretch>
            <a:fillRect/>
          </a:stretch>
        </p:blipFill>
        <p:spPr>
          <a:xfrm>
            <a:off x="3049443" y="926524"/>
            <a:ext cx="5661938" cy="5777488"/>
          </a:xfrm>
          <a:prstGeom prst="rect">
            <a:avLst/>
          </a:prstGeom>
        </p:spPr>
      </p:pic>
    </p:spTree>
    <p:extLst>
      <p:ext uri="{BB962C8B-B14F-4D97-AF65-F5344CB8AC3E}">
        <p14:creationId xmlns:p14="http://schemas.microsoft.com/office/powerpoint/2010/main" val="37180298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87FF7206-CA20-A524-5023-62A073923671}"/>
              </a:ext>
            </a:extLst>
          </p:cNvPr>
          <p:cNvPicPr>
            <a:picLocks noGrp="1" noChangeAspect="1"/>
          </p:cNvPicPr>
          <p:nvPr>
            <p:ph idx="1"/>
          </p:nvPr>
        </p:nvPicPr>
        <p:blipFill>
          <a:blip r:embed="rId2"/>
          <a:stretch>
            <a:fillRect/>
          </a:stretch>
        </p:blipFill>
        <p:spPr>
          <a:xfrm>
            <a:off x="1810546" y="126277"/>
            <a:ext cx="8169196" cy="6649346"/>
          </a:xfrm>
          <a:prstGeom prst="rect">
            <a:avLst/>
          </a:prstGeom>
        </p:spPr>
      </p:pic>
    </p:spTree>
    <p:extLst>
      <p:ext uri="{BB962C8B-B14F-4D97-AF65-F5344CB8AC3E}">
        <p14:creationId xmlns:p14="http://schemas.microsoft.com/office/powerpoint/2010/main" val="21187867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84DBB8-80AB-185E-8004-F35C47D05B67}"/>
              </a:ext>
            </a:extLst>
          </p:cNvPr>
          <p:cNvPicPr>
            <a:picLocks noGrp="1" noChangeAspect="1"/>
          </p:cNvPicPr>
          <p:nvPr>
            <p:ph idx="1"/>
          </p:nvPr>
        </p:nvPicPr>
        <p:blipFill>
          <a:blip r:embed="rId2"/>
          <a:stretch>
            <a:fillRect/>
          </a:stretch>
        </p:blipFill>
        <p:spPr>
          <a:xfrm>
            <a:off x="1368897" y="968883"/>
            <a:ext cx="8883616" cy="5186110"/>
          </a:xfrm>
          <a:prstGeom prst="rect">
            <a:avLst/>
          </a:prstGeom>
        </p:spPr>
      </p:pic>
    </p:spTree>
    <p:extLst>
      <p:ext uri="{BB962C8B-B14F-4D97-AF65-F5344CB8AC3E}">
        <p14:creationId xmlns:p14="http://schemas.microsoft.com/office/powerpoint/2010/main" val="10721011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E46A-005F-9D7D-D3CC-D5C6D9F1C8F6}"/>
              </a:ext>
            </a:extLst>
          </p:cNvPr>
          <p:cNvSpPr>
            <a:spLocks noGrp="1"/>
          </p:cNvSpPr>
          <p:nvPr>
            <p:ph type="title"/>
          </p:nvPr>
        </p:nvSpPr>
        <p:spPr>
          <a:xfrm>
            <a:off x="838200" y="365126"/>
            <a:ext cx="9633155" cy="416539"/>
          </a:xfrm>
        </p:spPr>
        <p:txBody>
          <a:bodyPr>
            <a:normAutofit fontScale="90000"/>
          </a:bodyPr>
          <a:lstStyle/>
          <a:p>
            <a:pPr algn="ctr"/>
            <a:r>
              <a:rPr lang="en-IN" sz="3000" dirty="0">
                <a:latin typeface="Times New Roman" panose="02020603050405020304" pitchFamily="18" charset="0"/>
                <a:cs typeface="Times New Roman" panose="02020603050405020304" pitchFamily="18" charset="0"/>
              </a:rPr>
              <a:t>Future Scope </a:t>
            </a:r>
          </a:p>
        </p:txBody>
      </p:sp>
      <p:sp>
        <p:nvSpPr>
          <p:cNvPr id="3" name="Content Placeholder 2">
            <a:extLst>
              <a:ext uri="{FF2B5EF4-FFF2-40B4-BE49-F238E27FC236}">
                <a16:creationId xmlns:a16="http://schemas.microsoft.com/office/drawing/2014/main" id="{98196B61-5D86-D7DE-42C4-3BB0033CE150}"/>
              </a:ext>
            </a:extLst>
          </p:cNvPr>
          <p:cNvSpPr>
            <a:spLocks noGrp="1"/>
          </p:cNvSpPr>
          <p:nvPr>
            <p:ph idx="1"/>
          </p:nvPr>
        </p:nvSpPr>
        <p:spPr>
          <a:xfrm>
            <a:off x="838200" y="1101214"/>
            <a:ext cx="10515600" cy="4975121"/>
          </a:xfrm>
        </p:spPr>
        <p:txBody>
          <a:bodyPr>
            <a:normAutofit/>
          </a:bodyPr>
          <a:lstStyle/>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1. Prediction modelling &amp; AI integration : Development of machine learning based models to predict yield, profit and disease/pest risks before harvest allowing timely and proactive decision making.</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Deep learning / time-series models for season-wise yield predictions using trend analysis based on past season yields.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2. Real-time Data Integration: Integration of live weather feeds, satellite imageries, and IoT sensors data (soil moisture, temp) instead of storing static historical data per season.</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Integration of Drone / remote sensing data for crop health monitoring using NDVI analysis.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3. Dataset Enhancement :Inclusion of more crops, regions and multiple year data to improve the generalization capability of the models, including future changes due to global warming and climatic variations.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Adding more parameters such as labor cost, insurance claims, government subsidies, consumer demand, etc.</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4. Smart Irrigation &amp; Resource optimization: Recommendation systems for smart irrigation planning based on water efficiency trends.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Linking with smart irrigation hardware to automate water application on the basis of soil conditions and predicted weather.</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6024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FC6B9-0081-FC15-C9A4-F8592B2192F3}"/>
              </a:ext>
            </a:extLst>
          </p:cNvPr>
          <p:cNvSpPr>
            <a:spLocks noGrp="1"/>
          </p:cNvSpPr>
          <p:nvPr>
            <p:ph idx="1"/>
          </p:nvPr>
        </p:nvSpPr>
        <p:spPr>
          <a:xfrm>
            <a:off x="739877" y="943897"/>
            <a:ext cx="10515600" cy="4463846"/>
          </a:xfrm>
        </p:spPr>
        <p:txBody>
          <a:bodyPr>
            <a:normAutofit/>
          </a:bodyPr>
          <a:lstStyle/>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5. Mobile &amp; Web Based Farmer advisory solution: Developing a Farmer Advisory platform in the form of dashboard or Mobile Application to provide personalized advice on, fertilizer application, type of irrigation, crop choice etc.</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Support for multilinguality and voice-enabled interaction for accessibility in rural communities.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6. Risk &amp; Insurance modelling: Development of models based on disease/pest prediction and crop yield variability for dynamic data driven crop insurance premium design.</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Alerts for prediction of disease outbreak based on humidity, temperature and historical disease risk indicators.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7. Market price forecasting: Predicting future market price based on production data along with demand and supply of various commodities, helping farmers decide when to sell crops.</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8. Sustainability &amp; Climate Resilience Analysis: Analyzing the impact of traditional practices on soil and water usage for sustainable agriculture.</a:t>
            </a:r>
          </a:p>
          <a:p>
            <a:pPr marL="0" indent="0">
              <a:lnSpc>
                <a:spcPct val="100000"/>
              </a:lnSpc>
              <a:spcBef>
                <a:spcPts val="0"/>
              </a:spcBef>
              <a:buNone/>
            </a:pPr>
            <a:r>
              <a:rPr lang="en-US" sz="2000" dirty="0">
                <a:latin typeface="Times New Roman" panose="02020603050405020304" pitchFamily="18" charset="0"/>
                <a:cs typeface="Times New Roman" panose="02020603050405020304" pitchFamily="18" charset="0"/>
              </a:rPr>
              <a:t>Recommending best irrigation practices and resilient crops for areas prone to climate variability and erratic rainfall.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06257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A81C-ABD1-6079-05C0-DFAE9737570B}"/>
              </a:ext>
            </a:extLst>
          </p:cNvPr>
          <p:cNvSpPr>
            <a:spLocks noGrp="1"/>
          </p:cNvSpPr>
          <p:nvPr>
            <p:ph type="title"/>
          </p:nvPr>
        </p:nvSpPr>
        <p:spPr>
          <a:xfrm>
            <a:off x="646111" y="265471"/>
            <a:ext cx="9404723" cy="501446"/>
          </a:xfrm>
        </p:spPr>
        <p:txBody>
          <a:bodyPr>
            <a:normAutofit/>
          </a:bodyPr>
          <a:lstStyle/>
          <a:p>
            <a:pPr algn="ctr"/>
            <a:r>
              <a:rPr lang="en-IN" sz="3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C3710CC-2CE4-457B-62D1-89255921F78F}"/>
              </a:ext>
            </a:extLst>
          </p:cNvPr>
          <p:cNvSpPr>
            <a:spLocks noGrp="1"/>
          </p:cNvSpPr>
          <p:nvPr>
            <p:ph idx="1"/>
          </p:nvPr>
        </p:nvSpPr>
        <p:spPr>
          <a:xfrm>
            <a:off x="501446" y="1256506"/>
            <a:ext cx="11031794" cy="3453146"/>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This project highlights how the analysis combining climatic, soil, agronomic and financial data can support detailed on-farm assessment. In this framework, the project not only investigates how a particular combination of environment and resources affect both yields and financial performance, but provides in-depth understanding into key variables determining yield, and identify directions for better application of water and fertilizers. As a result, farmers can now use improved information in regard to crop selection, timing and extent of irrigation and to support policy makers in formulating better programs targeted for agricultural sector. Agribusiness and financial investors benefit in assessment of financial risk associated to their investments on farms. This offers robust basis for data driven agriculture aimed to increase productivity and improve economic and environmental efficiency and there can be scope for further project developments such as predictive yield modeling, data incorporation in real-time or development of farming interface.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5048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EFB9-A50B-F91F-E844-6A5793C23AF2}"/>
              </a:ext>
            </a:extLst>
          </p:cNvPr>
          <p:cNvSpPr>
            <a:spLocks noGrp="1"/>
          </p:cNvSpPr>
          <p:nvPr>
            <p:ph type="title"/>
          </p:nvPr>
        </p:nvSpPr>
        <p:spPr>
          <a:xfrm>
            <a:off x="1425967" y="216309"/>
            <a:ext cx="8802137" cy="432619"/>
          </a:xfrm>
        </p:spPr>
        <p:txBody>
          <a:bodyPr>
            <a:normAutofit fontScale="90000"/>
          </a:bodyPr>
          <a:lstStyle/>
          <a:p>
            <a:pPr algn="ctr"/>
            <a:r>
              <a:rPr lang="en-IN" sz="3000" dirty="0">
                <a:latin typeface="Times New Roman" panose="02020603050405020304" pitchFamily="18" charset="0"/>
                <a:cs typeface="Times New Roman" panose="02020603050405020304" pitchFamily="18" charset="0"/>
              </a:rPr>
              <a:t>Data Virtualization Certificate </a:t>
            </a:r>
          </a:p>
        </p:txBody>
      </p:sp>
      <p:pic>
        <p:nvPicPr>
          <p:cNvPr id="8" name="Content Placeholder 7">
            <a:extLst>
              <a:ext uri="{FF2B5EF4-FFF2-40B4-BE49-F238E27FC236}">
                <a16:creationId xmlns:a16="http://schemas.microsoft.com/office/drawing/2014/main" id="{4E2B2076-9BB6-3C50-061F-092564A6D305}"/>
              </a:ext>
            </a:extLst>
          </p:cNvPr>
          <p:cNvPicPr>
            <a:picLocks noGrp="1" noChangeAspect="1"/>
          </p:cNvPicPr>
          <p:nvPr>
            <p:ph idx="1"/>
          </p:nvPr>
        </p:nvPicPr>
        <p:blipFill>
          <a:blip r:embed="rId2"/>
          <a:stretch>
            <a:fillRect/>
          </a:stretch>
        </p:blipFill>
        <p:spPr>
          <a:xfrm>
            <a:off x="1782485" y="882507"/>
            <a:ext cx="8445619" cy="5975493"/>
          </a:xfrm>
          <a:prstGeom prst="rect">
            <a:avLst/>
          </a:prstGeom>
        </p:spPr>
      </p:pic>
    </p:spTree>
    <p:extLst>
      <p:ext uri="{BB962C8B-B14F-4D97-AF65-F5344CB8AC3E}">
        <p14:creationId xmlns:p14="http://schemas.microsoft.com/office/powerpoint/2010/main" val="2623891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F2100B-C8AC-3B4B-6863-297A00171CB7}"/>
              </a:ext>
            </a:extLst>
          </p:cNvPr>
          <p:cNvSpPr>
            <a:spLocks noGrp="1"/>
          </p:cNvSpPr>
          <p:nvPr>
            <p:ph idx="1"/>
          </p:nvPr>
        </p:nvSpPr>
        <p:spPr>
          <a:xfrm>
            <a:off x="685800" y="2004291"/>
            <a:ext cx="10515600" cy="719244"/>
          </a:xfrm>
        </p:spPr>
        <p:txBody>
          <a:bodyPr>
            <a:normAutofit/>
          </a:bodyPr>
          <a:lstStyle/>
          <a:p>
            <a:pPr marL="0" indent="0">
              <a:buNone/>
            </a:pPr>
            <a:r>
              <a:rPr lang="en-IN" sz="2800" dirty="0">
                <a:latin typeface="Times New Roman" panose="02020603050405020304" pitchFamily="18" charset="0"/>
                <a:cs typeface="Times New Roman" panose="02020603050405020304" pitchFamily="18" charset="0"/>
              </a:rPr>
              <a:t>                                                Thank You </a:t>
            </a:r>
          </a:p>
        </p:txBody>
      </p:sp>
    </p:spTree>
    <p:extLst>
      <p:ext uri="{BB962C8B-B14F-4D97-AF65-F5344CB8AC3E}">
        <p14:creationId xmlns:p14="http://schemas.microsoft.com/office/powerpoint/2010/main" val="917515490"/>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192</TotalTime>
  <Words>2040</Words>
  <Application>Microsoft Office PowerPoint</Application>
  <PresentationFormat>Widescreen</PresentationFormat>
  <Paragraphs>127</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Arial</vt:lpstr>
      <vt:lpstr>Arial Nova Light</vt:lpstr>
      <vt:lpstr>Times New Roman</vt:lpstr>
      <vt:lpstr>Dark Gradient</vt:lpstr>
      <vt:lpstr>Seasonal Agriculture Performance Analysis</vt:lpstr>
      <vt:lpstr>Problem Statement of Seasonal Agriculture Performance Analysis</vt:lpstr>
      <vt:lpstr>Project Description of Seasonal Agriculture Performance Analysis </vt:lpstr>
      <vt:lpstr>PowerPoint Presentation</vt:lpstr>
      <vt:lpstr>PowerPoint Presentation</vt:lpstr>
      <vt:lpstr>Project Objectives</vt:lpstr>
      <vt:lpstr>What is Data Wrangling ? </vt:lpstr>
      <vt:lpstr>What is the Exploratory Data Analysis (EDA)</vt:lpstr>
      <vt:lpstr>                               End Users of this Project </vt:lpstr>
      <vt:lpstr>PowerPoint Presentation</vt:lpstr>
      <vt:lpstr>   Technologies Used In this Project </vt:lpstr>
      <vt:lpstr>Results of this Project </vt:lpstr>
      <vt:lpstr> How does agricultural performance vary across seasons? </vt:lpstr>
      <vt:lpstr>PowerPoint Presentation</vt:lpstr>
      <vt:lpstr> What major seasonal patterns can be observed? </vt:lpstr>
      <vt:lpstr>PowerPoint Presentation</vt:lpstr>
      <vt:lpstr>PowerPoint Presentation</vt:lpstr>
      <vt:lpstr> Which characteristics change between seasons? </vt:lpstr>
      <vt:lpstr>PowerPoint Presentation</vt:lpstr>
      <vt:lpstr>PowerPoint Presentation</vt:lpstr>
      <vt:lpstr>PowerPoint Presentation</vt:lpstr>
      <vt:lpstr>What differences exist between agricultural activities in different seasons?</vt:lpstr>
      <vt:lpstr>PowerPoint Presentation</vt:lpstr>
      <vt:lpstr> Are there noticeable variations in resource usage across seasons? </vt:lpstr>
      <vt:lpstr>PowerPoint Presentation</vt:lpstr>
      <vt:lpstr>PowerPoint Presentation</vt:lpstr>
      <vt:lpstr>PowerPoint Presentation</vt:lpstr>
      <vt:lpstr> Are there relationships between seasonal environmental conditions and agricultural performance? </vt:lpstr>
      <vt:lpstr>PowerPoint Presentation</vt:lpstr>
      <vt:lpstr>PowerPoint Presentation</vt:lpstr>
      <vt:lpstr>PowerPoint Presentation</vt:lpstr>
      <vt:lpstr>PowerPoint Presentation</vt:lpstr>
      <vt:lpstr>PowerPoint Presentation</vt:lpstr>
      <vt:lpstr>  How do economic outcomes vary across seasons? </vt:lpstr>
      <vt:lpstr>PowerPoint Presentation</vt:lpstr>
      <vt:lpstr>PowerPoint Presentation</vt:lpstr>
      <vt:lpstr> Are some seasonal patterns consistent across different regions or categories? </vt:lpstr>
      <vt:lpstr>PowerPoint Presentation</vt:lpstr>
      <vt:lpstr>PowerPoint Presentation</vt:lpstr>
      <vt:lpstr>PowerPoint Presentation</vt:lpstr>
      <vt:lpstr>PowerPoint Presentation</vt:lpstr>
      <vt:lpstr>PowerPoint Presentation</vt:lpstr>
      <vt:lpstr> Are there unusual or unexpected seasonal patterns? </vt:lpstr>
      <vt:lpstr>PowerPoint Presentation</vt:lpstr>
      <vt:lpstr>PowerPoint Presentation</vt:lpstr>
      <vt:lpstr>PowerPoint Presentation</vt:lpstr>
      <vt:lpstr> What insights can be derived from the observed seasonal differences? </vt:lpstr>
      <vt:lpstr>PowerPoint Presentation</vt:lpstr>
      <vt:lpstr>PowerPoint Presentation</vt:lpstr>
      <vt:lpstr> What conclusions can reasonably be drawn from the available data? </vt:lpstr>
      <vt:lpstr>PowerPoint Presentation</vt:lpstr>
      <vt:lpstr>PowerPoint Presentation</vt:lpstr>
      <vt:lpstr>How could the findings support better seasonal agricultural planning? </vt:lpstr>
      <vt:lpstr>PowerPoint Presentation</vt:lpstr>
      <vt:lpstr>PowerPoint Presentation</vt:lpstr>
      <vt:lpstr>Future Scope </vt:lpstr>
      <vt:lpstr>PowerPoint Presentation</vt:lpstr>
      <vt:lpstr>Conclusion</vt:lpstr>
      <vt:lpstr>Data Virtualization Certificate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Mohan B</dc:creator>
  <cp:lastModifiedBy>Krishna Mohan B</cp:lastModifiedBy>
  <cp:revision>11</cp:revision>
  <cp:lastPrinted>2026-09-05T12:32:30Z</cp:lastPrinted>
  <dcterms:created xsi:type="dcterms:W3CDTF">2026-09-05T09:45:51Z</dcterms:created>
  <dcterms:modified xsi:type="dcterms:W3CDTF">2026-09-10T13:25:55Z</dcterms:modified>
</cp:coreProperties>
</file>